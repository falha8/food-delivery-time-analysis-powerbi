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83" d="100"/>
          <a:sy n="83" d="100"/>
        </p:scale>
        <p:origin x="40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9861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Food delivery apps like Zomato and Swiggy compete on one thing customers feel straight away, which is delivery time. I </a:t>
            </a:r>
            <a:r>
              <a:rPr lang="en-IN" dirty="0" err="1"/>
              <a:t>analyzed</a:t>
            </a:r>
            <a:r>
              <a:rPr lang="en-IN" dirty="0"/>
              <a:t> order data to find what causes delays ..which are order time,</a:t>
            </a:r>
            <a:r>
              <a:rPr lang="en-US" sz="1200" dirty="0">
                <a:solidFill>
                  <a:srgbClr val="232028"/>
                </a:solidFill>
                <a:latin typeface="Calibri" pitchFamily="34" charset="0"/>
                <a:ea typeface="Calibri" pitchFamily="34" charset="-122"/>
                <a:cs typeface="Calibri" pitchFamily="34" charset="-120"/>
              </a:rPr>
              <a:t> , weather, traffic conditions, vehicle type, distance and pickup/dropoff zone ..</a:t>
            </a:r>
            <a:r>
              <a:rPr lang="en-IN" dirty="0"/>
              <a:t>and put the results into an interactive dashboard.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goals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everything sits in one flat table, I didn't need relationships between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A line chart shows orders by hour. Bar, funnel and column charts compare delivery time by weather, traffic and distance. A table lists the slowest routes, and four slicers let you filter the whole page."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"Traffic has the biggest effect. Severe traffic averages 134 minutes against 76 in low traffic, about 76% longer. </a:t>
            </a:r>
          </a:p>
          <a:p>
            <a:endParaRPr lang="en-IN" dirty="0"/>
          </a:p>
          <a:p>
            <a:r>
              <a:rPr lang="en-IN" dirty="0"/>
              <a:t>Distance is next: long trips average 86 minutes and short ones 34, roughly 2.5 times longer. </a:t>
            </a:r>
          </a:p>
          <a:p>
            <a:endParaRPr lang="en-IN" dirty="0"/>
          </a:p>
          <a:p>
            <a:r>
              <a:rPr lang="en-IN" dirty="0"/>
              <a:t>Weather matters too. Storms average 114 minutes against 77 in clear weather, about 48% longer. </a:t>
            </a:r>
          </a:p>
          <a:p>
            <a:endParaRPr lang="en-IN" dirty="0"/>
          </a:p>
          <a:p>
            <a:r>
              <a:rPr lang="en-IN" dirty="0"/>
              <a:t>For routes, CBD to Suburban and CBD to Commercial are slowest at about 94 minutes. The gap between routes is only about 17 minutes, so route matters less than traffic or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6.jpe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F"/>
        </a:solidFill>
        <a:effectLst/>
      </p:bgPr>
    </p:bg>
    <p:spTree>
      <p:nvGrpSpPr>
        <p:cNvPr id="1" name=""/>
        <p:cNvGrpSpPr/>
        <p:nvPr/>
      </p:nvGrpSpPr>
      <p:grpSpPr>
        <a:xfrm>
          <a:off x="0" y="0"/>
          <a:ext cx="0" cy="0"/>
          <a:chOff x="0" y="0"/>
          <a:chExt cx="0" cy="0"/>
        </a:xfrm>
      </p:grpSpPr>
      <p:pic>
        <p:nvPicPr>
          <p:cNvPr id="2" name="Image 0" descr="bg_cosmic.jpg"/>
          <p:cNvPicPr>
            <a:picLocks noChangeAspect="1"/>
          </p:cNvPicPr>
          <p:nvPr/>
        </p:nvPicPr>
        <p:blipFill>
          <a:blip r:embed="rId3">
            <a:alphaModFix amt="90000"/>
          </a:blip>
          <a:stretch>
            <a:fillRect/>
          </a:stretch>
        </p:blipFill>
        <p:spPr>
          <a:xfrm>
            <a:off x="0" y="0"/>
            <a:ext cx="12188952" cy="6858000"/>
          </a:xfrm>
          <a:prstGeom prst="rect">
            <a:avLst/>
          </a:prstGeom>
        </p:spPr>
      </p:pic>
      <p:sp>
        <p:nvSpPr>
          <p:cNvPr id="3" name="Shape 0"/>
          <p:cNvSpPr/>
          <p:nvPr/>
        </p:nvSpPr>
        <p:spPr>
          <a:xfrm>
            <a:off x="5443" y="10886"/>
            <a:ext cx="12188952" cy="6858000"/>
          </a:xfrm>
          <a:prstGeom prst="rect">
            <a:avLst/>
          </a:prstGeom>
          <a:solidFill>
            <a:srgbClr val="14141F">
              <a:alpha val="65000"/>
            </a:srgbClr>
          </a:solidFill>
          <a:ln/>
        </p:spPr>
        <p:txBody>
          <a:bodyPr/>
          <a:lstStyle/>
          <a:p>
            <a:endParaRPr lang="en-IN" dirty="0"/>
          </a:p>
        </p:txBody>
      </p:sp>
      <p:sp>
        <p:nvSpPr>
          <p:cNvPr id="4" name="Text 1"/>
          <p:cNvSpPr txBox="1"/>
          <p:nvPr/>
        </p:nvSpPr>
        <p:spPr>
          <a:xfrm>
            <a:off x="914400" y="2331720"/>
            <a:ext cx="2904226" cy="365760"/>
          </a:xfrm>
          <a:prstGeom prst="rect">
            <a:avLst/>
          </a:prstGeom>
          <a:noFill/>
          <a:ln/>
        </p:spPr>
        <p:txBody>
          <a:bodyPr wrap="square" lIns="0" tIns="0" rIns="0" bIns="0" rtlCol="0" anchor="ctr"/>
          <a:lstStyle/>
          <a:p>
            <a:pPr marL="0" indent="0">
              <a:buNone/>
            </a:pPr>
            <a:r>
              <a:rPr lang="en-US" sz="1300" b="1" kern="0" spc="300" dirty="0">
                <a:solidFill>
                  <a:schemeClr val="accent4"/>
                </a:solidFill>
                <a:latin typeface="Calibri" pitchFamily="34" charset="0"/>
                <a:ea typeface="Calibri" pitchFamily="34" charset="-122"/>
                <a:cs typeface="Calibri" pitchFamily="34" charset="-120"/>
              </a:rPr>
              <a:t>POWER BI PROJECT REPORT</a:t>
            </a:r>
            <a:endParaRPr lang="en-US" sz="1300" dirty="0">
              <a:solidFill>
                <a:schemeClr val="accent4"/>
              </a:solidFill>
            </a:endParaRPr>
          </a:p>
        </p:txBody>
      </p:sp>
      <p:sp>
        <p:nvSpPr>
          <p:cNvPr id="5" name="Text 2"/>
          <p:cNvSpPr txBox="1"/>
          <p:nvPr/>
        </p:nvSpPr>
        <p:spPr>
          <a:xfrm>
            <a:off x="914400" y="2697480"/>
            <a:ext cx="9601200" cy="1737360"/>
          </a:xfrm>
          <a:prstGeom prst="rect">
            <a:avLst/>
          </a:prstGeom>
          <a:noFill/>
          <a:ln/>
        </p:spPr>
        <p:txBody>
          <a:bodyPr wrap="square" lIns="0" tIns="0" rIns="0" bIns="0" rtlCol="0" anchor="ctr"/>
          <a:lstStyle/>
          <a:p>
            <a:pPr marL="0" indent="0">
              <a:lnSpc>
                <a:spcPct val="105000"/>
              </a:lnSpc>
              <a:buNone/>
            </a:pPr>
            <a:r>
              <a:rPr lang="en-US" sz="4600" b="1" dirty="0">
                <a:solidFill>
                  <a:srgbClr val="F7F4EF"/>
                </a:solidFill>
                <a:latin typeface="Bookman Old Style" pitchFamily="34" charset="0"/>
                <a:ea typeface="Bookman Old Style" pitchFamily="34" charset="-122"/>
                <a:cs typeface="Bookman Old Style" pitchFamily="34" charset="-120"/>
              </a:rPr>
              <a:t>Food Delivery Time</a:t>
            </a:r>
            <a:endParaRPr lang="en-US" sz="4600" dirty="0"/>
          </a:p>
          <a:p>
            <a:pPr marL="0" indent="0">
              <a:lnSpc>
                <a:spcPct val="105000"/>
              </a:lnSpc>
              <a:buNone/>
            </a:pPr>
            <a:r>
              <a:rPr lang="en-US" sz="4600" b="1" dirty="0">
                <a:solidFill>
                  <a:srgbClr val="F7F4EF"/>
                </a:solidFill>
                <a:latin typeface="Bookman Old Style" pitchFamily="34" charset="0"/>
                <a:ea typeface="Bookman Old Style" pitchFamily="34" charset="-122"/>
                <a:cs typeface="Bookman Old Style" pitchFamily="34" charset="-120"/>
              </a:rPr>
              <a:t>Analysis</a:t>
            </a:r>
            <a:endParaRPr lang="en-US" sz="4600" dirty="0"/>
          </a:p>
        </p:txBody>
      </p:sp>
      <p:sp>
        <p:nvSpPr>
          <p:cNvPr id="6" name="Shape 3"/>
          <p:cNvSpPr/>
          <p:nvPr/>
        </p:nvSpPr>
        <p:spPr>
          <a:xfrm>
            <a:off x="4279738" y="2491740"/>
            <a:ext cx="7906820" cy="45719"/>
          </a:xfrm>
          <a:prstGeom prst="rect">
            <a:avLst/>
          </a:prstGeom>
          <a:solidFill>
            <a:schemeClr val="accent4"/>
          </a:solidFill>
          <a:ln/>
        </p:spPr>
      </p:sp>
      <p:sp>
        <p:nvSpPr>
          <p:cNvPr id="7" name="Text 4"/>
          <p:cNvSpPr txBox="1"/>
          <p:nvPr/>
        </p:nvSpPr>
        <p:spPr>
          <a:xfrm>
            <a:off x="914400" y="4617720"/>
            <a:ext cx="7772400" cy="640080"/>
          </a:xfrm>
          <a:prstGeom prst="rect">
            <a:avLst/>
          </a:prstGeom>
          <a:noFill/>
          <a:ln/>
        </p:spPr>
        <p:txBody>
          <a:bodyPr wrap="square" lIns="0" tIns="0" rIns="0" bIns="0" rtlCol="0" anchor="ctr"/>
          <a:lstStyle/>
          <a:p>
            <a:pPr marL="0" indent="0">
              <a:lnSpc>
                <a:spcPct val="120000"/>
              </a:lnSpc>
              <a:buNone/>
            </a:pPr>
            <a:r>
              <a:rPr lang="en-US" sz="1400" dirty="0">
                <a:solidFill>
                  <a:srgbClr val="CFC9C2"/>
                </a:solidFill>
                <a:latin typeface="Calibri" pitchFamily="34" charset="0"/>
                <a:ea typeface="Calibri" pitchFamily="34" charset="-122"/>
                <a:cs typeface="Calibri" pitchFamily="34" charset="-120"/>
              </a:rPr>
              <a:t>Understanding what drives delivery times — weather, traffic, vehicle type</a:t>
            </a:r>
            <a:r>
              <a:rPr lang="en-US" sz="1400" dirty="0"/>
              <a:t> </a:t>
            </a:r>
            <a:r>
              <a:rPr lang="en-US" sz="1400" dirty="0">
                <a:solidFill>
                  <a:srgbClr val="CFC9C2"/>
                </a:solidFill>
                <a:latin typeface="Calibri" pitchFamily="34" charset="0"/>
                <a:ea typeface="Calibri" pitchFamily="34" charset="-122"/>
                <a:cs typeface="Calibri" pitchFamily="34" charset="-120"/>
              </a:rPr>
              <a:t>and distance.</a:t>
            </a:r>
            <a:endParaRPr lang="en-US" sz="1400" dirty="0"/>
          </a:p>
        </p:txBody>
      </p:sp>
      <p:sp>
        <p:nvSpPr>
          <p:cNvPr id="8" name="Text 5"/>
          <p:cNvSpPr txBox="1"/>
          <p:nvPr/>
        </p:nvSpPr>
        <p:spPr>
          <a:xfrm>
            <a:off x="914400" y="5989320"/>
            <a:ext cx="5486400" cy="320040"/>
          </a:xfrm>
          <a:prstGeom prst="rect">
            <a:avLst/>
          </a:prstGeom>
          <a:noFill/>
          <a:ln/>
        </p:spPr>
        <p:txBody>
          <a:bodyPr wrap="square" lIns="0" tIns="0" rIns="0" bIns="0" rtlCol="0" anchor="ctr"/>
          <a:lstStyle/>
          <a:p>
            <a:pPr marL="0" indent="0">
              <a:buNone/>
            </a:pPr>
            <a:r>
              <a:rPr lang="en-US" sz="1200" b="1" kern="0" spc="200" dirty="0">
                <a:solidFill>
                  <a:srgbClr val="F7F4EF"/>
                </a:solidFill>
                <a:latin typeface="Calibri" pitchFamily="34" charset="0"/>
                <a:ea typeface="Calibri" pitchFamily="34" charset="-122"/>
                <a:cs typeface="Calibri" pitchFamily="34" charset="-120"/>
              </a:rPr>
              <a:t>SUBMITTED BY: FALHA 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7F2"/>
        </a:solidFill>
        <a:effectLst/>
      </p:bgPr>
    </p:bg>
    <p:spTree>
      <p:nvGrpSpPr>
        <p:cNvPr id="1" name=""/>
        <p:cNvGrpSpPr/>
        <p:nvPr/>
      </p:nvGrpSpPr>
      <p:grpSpPr>
        <a:xfrm>
          <a:off x="0" y="0"/>
          <a:ext cx="0" cy="0"/>
          <a:chOff x="0" y="0"/>
          <a:chExt cx="0" cy="0"/>
        </a:xfrm>
      </p:grpSpPr>
      <p:sp>
        <p:nvSpPr>
          <p:cNvPr id="2" name="Shape 0"/>
          <p:cNvSpPr/>
          <p:nvPr/>
        </p:nvSpPr>
        <p:spPr>
          <a:xfrm>
            <a:off x="502920" y="457200"/>
            <a:ext cx="777240" cy="777240"/>
          </a:xfrm>
          <a:prstGeom prst="ellipse">
            <a:avLst/>
          </a:prstGeom>
          <a:solidFill>
            <a:schemeClr val="accent4"/>
          </a:solidFill>
          <a:ln/>
        </p:spPr>
      </p:sp>
      <p:sp>
        <p:nvSpPr>
          <p:cNvPr id="4" name="Text 1"/>
          <p:cNvSpPr txBox="1"/>
          <p:nvPr/>
        </p:nvSpPr>
        <p:spPr>
          <a:xfrm>
            <a:off x="1371600" y="502920"/>
            <a:ext cx="7315200" cy="320040"/>
          </a:xfrm>
          <a:prstGeom prst="rect">
            <a:avLst/>
          </a:prstGeom>
          <a:noFill/>
          <a:ln/>
        </p:spPr>
        <p:txBody>
          <a:bodyPr wrap="square" lIns="0" tIns="0" rIns="0" bIns="0" rtlCol="0" anchor="ctr"/>
          <a:lstStyle/>
          <a:p>
            <a:pPr marL="0" indent="0">
              <a:buNone/>
            </a:pPr>
            <a:r>
              <a:rPr lang="en-US" sz="1200" b="1" kern="0" spc="200" dirty="0">
                <a:solidFill>
                  <a:schemeClr val="accent4"/>
                </a:solidFill>
                <a:latin typeface="Calibri" pitchFamily="34" charset="0"/>
                <a:ea typeface="Calibri" pitchFamily="34" charset="-122"/>
                <a:cs typeface="Calibri" pitchFamily="34" charset="-120"/>
              </a:rPr>
              <a:t>01 · INTRODUCTION</a:t>
            </a:r>
            <a:endParaRPr lang="en-US" sz="1200" dirty="0">
              <a:solidFill>
                <a:schemeClr val="accent4"/>
              </a:solidFill>
            </a:endParaRPr>
          </a:p>
        </p:txBody>
      </p:sp>
      <p:sp>
        <p:nvSpPr>
          <p:cNvPr id="5" name="Text 2"/>
          <p:cNvSpPr txBox="1"/>
          <p:nvPr/>
        </p:nvSpPr>
        <p:spPr>
          <a:xfrm>
            <a:off x="1371600" y="777240"/>
            <a:ext cx="8686800" cy="640080"/>
          </a:xfrm>
          <a:prstGeom prst="rect">
            <a:avLst/>
          </a:prstGeom>
          <a:noFill/>
          <a:ln/>
        </p:spPr>
        <p:txBody>
          <a:bodyPr wrap="square" lIns="0" tIns="0" rIns="0" bIns="0" rtlCol="0" anchor="ctr"/>
          <a:lstStyle/>
          <a:p>
            <a:pPr marL="0" indent="0">
              <a:buNone/>
            </a:pPr>
            <a:r>
              <a:rPr lang="en-US" sz="3200" b="1" dirty="0">
                <a:solidFill>
                  <a:srgbClr val="232028"/>
                </a:solidFill>
                <a:latin typeface="Bookman Old Style" pitchFamily="34" charset="0"/>
                <a:ea typeface="Bookman Old Style" pitchFamily="34" charset="-122"/>
                <a:cs typeface="Bookman Old Style" pitchFamily="34" charset="-120"/>
              </a:rPr>
              <a:t>Introduction</a:t>
            </a:r>
            <a:endParaRPr lang="en-US" sz="3200" dirty="0"/>
          </a:p>
        </p:txBody>
      </p:sp>
      <p:sp>
        <p:nvSpPr>
          <p:cNvPr id="6" name="Shape 3"/>
          <p:cNvSpPr/>
          <p:nvPr/>
        </p:nvSpPr>
        <p:spPr>
          <a:xfrm>
            <a:off x="822960" y="1691640"/>
            <a:ext cx="10515600" cy="4206240"/>
          </a:xfrm>
          <a:prstGeom prst="roundRect">
            <a:avLst>
              <a:gd name="adj" fmla="val 2609"/>
            </a:avLst>
          </a:prstGeom>
          <a:solidFill>
            <a:srgbClr val="FFFFFF"/>
          </a:solidFill>
          <a:ln w="12700">
            <a:solidFill>
              <a:srgbClr val="ECE6DE"/>
            </a:solidFill>
            <a:prstDash val="solid"/>
          </a:ln>
        </p:spPr>
      </p:sp>
      <p:sp>
        <p:nvSpPr>
          <p:cNvPr id="7" name="Text 4"/>
          <p:cNvSpPr txBox="1"/>
          <p:nvPr/>
        </p:nvSpPr>
        <p:spPr>
          <a:xfrm>
            <a:off x="1188720" y="2011680"/>
            <a:ext cx="9784080" cy="1188720"/>
          </a:xfrm>
          <a:prstGeom prst="rect">
            <a:avLst/>
          </a:prstGeom>
          <a:noFill/>
          <a:ln/>
        </p:spPr>
        <p:txBody>
          <a:bodyPr wrap="square" lIns="0" tIns="0" rIns="0" bIns="0" rtlCol="0" anchor="t"/>
          <a:lstStyle/>
          <a:p>
            <a:pPr marL="0" indent="0">
              <a:lnSpc>
                <a:spcPct val="130000"/>
              </a:lnSpc>
              <a:buNone/>
            </a:pPr>
            <a:r>
              <a:rPr lang="en-US" sz="1500" dirty="0">
                <a:solidFill>
                  <a:srgbClr val="232028"/>
                </a:solidFill>
                <a:latin typeface="Calibri" pitchFamily="34" charset="0"/>
                <a:ea typeface="Calibri" pitchFamily="34" charset="-122"/>
                <a:cs typeface="Calibri" pitchFamily="34" charset="-120"/>
              </a:rPr>
              <a:t>On-demand food delivery has become one of the most competitive corners of the gig economy. </a:t>
            </a:r>
            <a:r>
              <a:rPr lang="en-US" sz="1500" b="1" dirty="0">
                <a:latin typeface="Calibri" pitchFamily="34" charset="0"/>
                <a:ea typeface="Calibri" pitchFamily="34" charset="-122"/>
                <a:cs typeface="Calibri" pitchFamily="34" charset="-120"/>
              </a:rPr>
              <a:t>Apps like </a:t>
            </a:r>
            <a:r>
              <a:rPr lang="en-US" sz="1500" b="1" dirty="0">
                <a:solidFill>
                  <a:schemeClr val="accent4"/>
                </a:solidFill>
                <a:latin typeface="Calibri" pitchFamily="34" charset="0"/>
                <a:ea typeface="Calibri" pitchFamily="34" charset="-122"/>
                <a:cs typeface="Calibri" pitchFamily="34" charset="-120"/>
              </a:rPr>
              <a:t>Zomato, Swiggy, Uber Eats and DoorDash</a:t>
            </a:r>
            <a:r>
              <a:rPr lang="en-US" sz="1500" dirty="0">
                <a:solidFill>
                  <a:schemeClr val="accent4"/>
                </a:solidFill>
                <a:latin typeface="Calibri" pitchFamily="34" charset="0"/>
                <a:ea typeface="Calibri" pitchFamily="34" charset="-122"/>
                <a:cs typeface="Calibri" pitchFamily="34" charset="-120"/>
              </a:rPr>
              <a:t> </a:t>
            </a:r>
            <a:r>
              <a:rPr lang="en-US" sz="1500" dirty="0">
                <a:solidFill>
                  <a:srgbClr val="232028"/>
                </a:solidFill>
                <a:latin typeface="Calibri" pitchFamily="34" charset="0"/>
                <a:ea typeface="Calibri" pitchFamily="34" charset="-122"/>
                <a:cs typeface="Calibri" pitchFamily="34" charset="-120"/>
              </a:rPr>
              <a:t>compete heavily on one metric customers feel instantly: </a:t>
            </a:r>
            <a:r>
              <a:rPr lang="en-US" sz="1500" b="1" dirty="0">
                <a:solidFill>
                  <a:srgbClr val="232028"/>
                </a:solidFill>
                <a:latin typeface="Calibri" pitchFamily="34" charset="0"/>
                <a:ea typeface="Calibri" pitchFamily="34" charset="-122"/>
                <a:cs typeface="Calibri" pitchFamily="34" charset="-120"/>
              </a:rPr>
              <a:t>delivery time.</a:t>
            </a:r>
            <a:endParaRPr lang="en-US" sz="1500" dirty="0"/>
          </a:p>
        </p:txBody>
      </p:sp>
      <p:sp>
        <p:nvSpPr>
          <p:cNvPr id="8" name="Text 5"/>
          <p:cNvSpPr txBox="1"/>
          <p:nvPr/>
        </p:nvSpPr>
        <p:spPr>
          <a:xfrm>
            <a:off x="1188720" y="3246120"/>
            <a:ext cx="9784080" cy="1371600"/>
          </a:xfrm>
          <a:prstGeom prst="rect">
            <a:avLst/>
          </a:prstGeom>
          <a:noFill/>
          <a:ln/>
        </p:spPr>
        <p:txBody>
          <a:bodyPr wrap="square" lIns="0" tIns="0" rIns="0" bIns="0" rtlCol="0" anchor="t"/>
          <a:lstStyle/>
          <a:p>
            <a:pPr marL="0" indent="0">
              <a:lnSpc>
                <a:spcPct val="130000"/>
              </a:lnSpc>
              <a:buNone/>
            </a:pPr>
            <a:r>
              <a:rPr lang="en-US" sz="1500" dirty="0">
                <a:solidFill>
                  <a:srgbClr val="232028"/>
                </a:solidFill>
                <a:latin typeface="Calibri" pitchFamily="34" charset="0"/>
                <a:ea typeface="Calibri" pitchFamily="34" charset="-122"/>
                <a:cs typeface="Calibri" pitchFamily="34" charset="-120"/>
              </a:rPr>
              <a:t>This project analyzes a food-delivery order dataset:-order time, weather, traffic conditions, vehicle type, distance and pickup/dropoff zone . To understand </a:t>
            </a:r>
            <a:r>
              <a:rPr lang="en-US" sz="1500" b="1" dirty="0">
                <a:solidFill>
                  <a:srgbClr val="232028"/>
                </a:solidFill>
                <a:latin typeface="Calibri" pitchFamily="34" charset="0"/>
                <a:ea typeface="Calibri" pitchFamily="34" charset="-122"/>
                <a:cs typeface="Calibri" pitchFamily="34" charset="-120"/>
              </a:rPr>
              <a:t>what actually slows deliveries down</a:t>
            </a:r>
            <a:r>
              <a:rPr lang="en-US" sz="1500" dirty="0">
                <a:solidFill>
                  <a:srgbClr val="232028"/>
                </a:solidFill>
                <a:latin typeface="Calibri" pitchFamily="34" charset="0"/>
                <a:ea typeface="Calibri" pitchFamily="34" charset="-122"/>
                <a:cs typeface="Calibri" pitchFamily="34" charset="-120"/>
              </a:rPr>
              <a:t>, and turns those patterns into an interactive Power BI dashboard.</a:t>
            </a:r>
            <a:endParaRPr lang="en-US" sz="1500" dirty="0"/>
          </a:p>
        </p:txBody>
      </p:sp>
      <p:pic>
        <p:nvPicPr>
          <p:cNvPr id="13" name="Image 0" descr="bullseye.png">
            <a:extLst>
              <a:ext uri="{FF2B5EF4-FFF2-40B4-BE49-F238E27FC236}">
                <a16:creationId xmlns:a16="http://schemas.microsoft.com/office/drawing/2014/main" id="{960E54DA-C8A6-D2AD-CE7E-FD54C2D38B39}"/>
              </a:ext>
            </a:extLst>
          </p:cNvPr>
          <p:cNvPicPr>
            <a:picLocks noChangeAspect="1"/>
          </p:cNvPicPr>
          <p:nvPr/>
        </p:nvPicPr>
        <p:blipFill>
          <a:blip r:embed="rId3"/>
          <a:stretch>
            <a:fillRect/>
          </a:stretch>
        </p:blipFill>
        <p:spPr>
          <a:xfrm>
            <a:off x="673913" y="628193"/>
            <a:ext cx="435254" cy="43525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7F2"/>
        </a:solidFill>
        <a:effectLst/>
      </p:bgPr>
    </p:bg>
    <p:spTree>
      <p:nvGrpSpPr>
        <p:cNvPr id="1" name=""/>
        <p:cNvGrpSpPr/>
        <p:nvPr/>
      </p:nvGrpSpPr>
      <p:grpSpPr>
        <a:xfrm>
          <a:off x="0" y="0"/>
          <a:ext cx="0" cy="0"/>
          <a:chOff x="0" y="0"/>
          <a:chExt cx="0" cy="0"/>
        </a:xfrm>
      </p:grpSpPr>
      <p:sp>
        <p:nvSpPr>
          <p:cNvPr id="2" name="Shape 0"/>
          <p:cNvSpPr/>
          <p:nvPr/>
        </p:nvSpPr>
        <p:spPr>
          <a:xfrm>
            <a:off x="502920" y="457200"/>
            <a:ext cx="777240" cy="777240"/>
          </a:xfrm>
          <a:prstGeom prst="ellipse">
            <a:avLst/>
          </a:prstGeom>
          <a:solidFill>
            <a:schemeClr val="accent4"/>
          </a:solidFill>
          <a:ln/>
        </p:spPr>
      </p:sp>
      <p:pic>
        <p:nvPicPr>
          <p:cNvPr id="3" name="Image 0" descr="bullseye.png"/>
          <p:cNvPicPr>
            <a:picLocks noChangeAspect="1"/>
          </p:cNvPicPr>
          <p:nvPr/>
        </p:nvPicPr>
        <p:blipFill>
          <a:blip r:embed="rId3"/>
          <a:stretch>
            <a:fillRect/>
          </a:stretch>
        </p:blipFill>
        <p:spPr>
          <a:xfrm>
            <a:off x="673913" y="628193"/>
            <a:ext cx="435254" cy="435254"/>
          </a:xfrm>
          <a:prstGeom prst="rect">
            <a:avLst/>
          </a:prstGeom>
        </p:spPr>
      </p:pic>
      <p:sp>
        <p:nvSpPr>
          <p:cNvPr id="4" name="Text 1"/>
          <p:cNvSpPr txBox="1"/>
          <p:nvPr/>
        </p:nvSpPr>
        <p:spPr>
          <a:xfrm>
            <a:off x="1371600" y="502920"/>
            <a:ext cx="7315200" cy="320040"/>
          </a:xfrm>
          <a:prstGeom prst="rect">
            <a:avLst/>
          </a:prstGeom>
          <a:noFill/>
          <a:ln/>
        </p:spPr>
        <p:txBody>
          <a:bodyPr wrap="square" lIns="0" tIns="0" rIns="0" bIns="0" rtlCol="0" anchor="ctr"/>
          <a:lstStyle/>
          <a:p>
            <a:pPr marL="0" indent="0">
              <a:buNone/>
            </a:pPr>
            <a:r>
              <a:rPr lang="en-US" sz="1200" b="1" kern="0" spc="200" dirty="0">
                <a:solidFill>
                  <a:schemeClr val="accent4"/>
                </a:solidFill>
                <a:latin typeface="Calibri" pitchFamily="34" charset="0"/>
                <a:ea typeface="Calibri" pitchFamily="34" charset="-122"/>
                <a:cs typeface="Calibri" pitchFamily="34" charset="-120"/>
              </a:rPr>
              <a:t>02 · OBJECTIVE</a:t>
            </a:r>
            <a:endParaRPr lang="en-US" sz="1200" dirty="0">
              <a:solidFill>
                <a:schemeClr val="accent4"/>
              </a:solidFill>
            </a:endParaRPr>
          </a:p>
        </p:txBody>
      </p:sp>
      <p:sp>
        <p:nvSpPr>
          <p:cNvPr id="5" name="Text 2"/>
          <p:cNvSpPr txBox="1"/>
          <p:nvPr/>
        </p:nvSpPr>
        <p:spPr>
          <a:xfrm>
            <a:off x="1371600" y="777240"/>
            <a:ext cx="8686800" cy="640080"/>
          </a:xfrm>
          <a:prstGeom prst="rect">
            <a:avLst/>
          </a:prstGeom>
          <a:noFill/>
          <a:ln/>
        </p:spPr>
        <p:txBody>
          <a:bodyPr wrap="square" lIns="0" tIns="0" rIns="0" bIns="0" rtlCol="0" anchor="ctr"/>
          <a:lstStyle/>
          <a:p>
            <a:pPr marL="0" indent="0">
              <a:buNone/>
            </a:pPr>
            <a:r>
              <a:rPr lang="en-US" sz="3200" b="1" dirty="0">
                <a:solidFill>
                  <a:srgbClr val="232028"/>
                </a:solidFill>
                <a:latin typeface="Bookman Old Style" pitchFamily="34" charset="0"/>
                <a:ea typeface="Bookman Old Style" pitchFamily="34" charset="-122"/>
                <a:cs typeface="Bookman Old Style" pitchFamily="34" charset="-120"/>
              </a:rPr>
              <a:t>Objective</a:t>
            </a:r>
            <a:endParaRPr lang="en-US" sz="3200" dirty="0"/>
          </a:p>
        </p:txBody>
      </p:sp>
      <p:sp>
        <p:nvSpPr>
          <p:cNvPr id="6" name="Shape 3"/>
          <p:cNvSpPr/>
          <p:nvPr/>
        </p:nvSpPr>
        <p:spPr>
          <a:xfrm>
            <a:off x="822960" y="1828800"/>
            <a:ext cx="5029200" cy="1691640"/>
          </a:xfrm>
          <a:prstGeom prst="roundRect">
            <a:avLst>
              <a:gd name="adj" fmla="val 5405"/>
            </a:avLst>
          </a:prstGeom>
          <a:solidFill>
            <a:srgbClr val="FFFFFF"/>
          </a:solidFill>
          <a:ln w="12700">
            <a:solidFill>
              <a:srgbClr val="ECE6DE"/>
            </a:solidFill>
            <a:prstDash val="solid"/>
          </a:ln>
        </p:spPr>
      </p:sp>
      <p:sp>
        <p:nvSpPr>
          <p:cNvPr id="7" name="Shape 4"/>
          <p:cNvSpPr/>
          <p:nvPr/>
        </p:nvSpPr>
        <p:spPr>
          <a:xfrm>
            <a:off x="1097280" y="2103120"/>
            <a:ext cx="457200" cy="457200"/>
          </a:xfrm>
          <a:prstGeom prst="roundRect">
            <a:avLst>
              <a:gd name="adj" fmla="val 20000"/>
            </a:avLst>
          </a:prstGeom>
          <a:solidFill>
            <a:srgbClr val="FF6B35"/>
          </a:solidFill>
          <a:ln/>
        </p:spPr>
      </p:sp>
      <p:sp>
        <p:nvSpPr>
          <p:cNvPr id="8" name="Text 5"/>
          <p:cNvSpPr txBox="1"/>
          <p:nvPr/>
        </p:nvSpPr>
        <p:spPr>
          <a:xfrm>
            <a:off x="1097280" y="2103120"/>
            <a:ext cx="457200" cy="457200"/>
          </a:xfrm>
          <a:prstGeom prst="rect">
            <a:avLst/>
          </a:prstGeom>
          <a:solidFill>
            <a:schemeClr val="bg2">
              <a:lumMod val="90000"/>
            </a:schemeClr>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9" name="Text 6"/>
          <p:cNvSpPr txBox="1"/>
          <p:nvPr/>
        </p:nvSpPr>
        <p:spPr>
          <a:xfrm>
            <a:off x="1737360" y="2057400"/>
            <a:ext cx="3840480" cy="365760"/>
          </a:xfrm>
          <a:prstGeom prst="rect">
            <a:avLst/>
          </a:prstGeom>
          <a:noFill/>
          <a:ln/>
        </p:spPr>
        <p:txBody>
          <a:bodyPr wrap="square" lIns="0" tIns="0" rIns="0" bIns="0" rtlCol="0" anchor="ctr"/>
          <a:lstStyle/>
          <a:p>
            <a:pPr marL="0" indent="0">
              <a:buNone/>
            </a:pPr>
            <a:r>
              <a:rPr lang="en-US" sz="1600" b="1" dirty="0">
                <a:solidFill>
                  <a:srgbClr val="232028"/>
                </a:solidFill>
                <a:latin typeface="Bookman Old Style" pitchFamily="34" charset="0"/>
                <a:ea typeface="Bookman Old Style" pitchFamily="34" charset="-122"/>
                <a:cs typeface="Bookman Old Style" pitchFamily="34" charset="-120"/>
              </a:rPr>
              <a:t>Identify delay drivers</a:t>
            </a:r>
            <a:endParaRPr lang="en-US" sz="1600" dirty="0"/>
          </a:p>
        </p:txBody>
      </p:sp>
      <p:sp>
        <p:nvSpPr>
          <p:cNvPr id="10" name="Text 7"/>
          <p:cNvSpPr txBox="1"/>
          <p:nvPr/>
        </p:nvSpPr>
        <p:spPr>
          <a:xfrm>
            <a:off x="1737360" y="2450592"/>
            <a:ext cx="3840480" cy="960120"/>
          </a:xfrm>
          <a:prstGeom prst="rect">
            <a:avLst/>
          </a:prstGeom>
          <a:noFill/>
          <a:ln/>
        </p:spPr>
        <p:txBody>
          <a:bodyPr wrap="square" lIns="0" tIns="0" rIns="0" bIns="0" rtlCol="0" anchor="t"/>
          <a:lstStyle/>
          <a:p>
            <a:pPr marL="0" indent="0">
              <a:lnSpc>
                <a:spcPct val="125000"/>
              </a:lnSpc>
              <a:buNone/>
            </a:pPr>
            <a:r>
              <a:rPr lang="en-US" sz="1250" dirty="0">
                <a:solidFill>
                  <a:srgbClr val="6B6570"/>
                </a:solidFill>
                <a:latin typeface="Calibri" pitchFamily="34" charset="0"/>
                <a:ea typeface="Calibri" pitchFamily="34" charset="-122"/>
                <a:cs typeface="Calibri" pitchFamily="34" charset="-120"/>
              </a:rPr>
              <a:t>Measure how weather, traffic level and vehicle type each affect average delivery time.</a:t>
            </a:r>
            <a:endParaRPr lang="en-US" sz="1250" dirty="0"/>
          </a:p>
        </p:txBody>
      </p:sp>
      <p:sp>
        <p:nvSpPr>
          <p:cNvPr id="11" name="Shape 8"/>
          <p:cNvSpPr/>
          <p:nvPr/>
        </p:nvSpPr>
        <p:spPr>
          <a:xfrm>
            <a:off x="6309360" y="1828800"/>
            <a:ext cx="5029200" cy="1691640"/>
          </a:xfrm>
          <a:prstGeom prst="roundRect">
            <a:avLst>
              <a:gd name="adj" fmla="val 5405"/>
            </a:avLst>
          </a:prstGeom>
          <a:solidFill>
            <a:srgbClr val="FFFFFF"/>
          </a:solidFill>
          <a:ln w="12700">
            <a:solidFill>
              <a:srgbClr val="ECE6DE"/>
            </a:solidFill>
            <a:prstDash val="solid"/>
          </a:ln>
        </p:spPr>
      </p:sp>
      <p:sp>
        <p:nvSpPr>
          <p:cNvPr id="12" name="Shape 9"/>
          <p:cNvSpPr/>
          <p:nvPr/>
        </p:nvSpPr>
        <p:spPr>
          <a:xfrm>
            <a:off x="6583680" y="2103120"/>
            <a:ext cx="457200" cy="457200"/>
          </a:xfrm>
          <a:prstGeom prst="roundRect">
            <a:avLst>
              <a:gd name="adj" fmla="val 20000"/>
            </a:avLst>
          </a:prstGeom>
          <a:solidFill>
            <a:srgbClr val="00A896"/>
          </a:solidFill>
          <a:ln/>
        </p:spPr>
      </p:sp>
      <p:sp>
        <p:nvSpPr>
          <p:cNvPr id="13" name="Text 10"/>
          <p:cNvSpPr txBox="1"/>
          <p:nvPr/>
        </p:nvSpPr>
        <p:spPr>
          <a:xfrm>
            <a:off x="6583680" y="2103120"/>
            <a:ext cx="457200" cy="457200"/>
          </a:xfrm>
          <a:prstGeom prst="rect">
            <a:avLst/>
          </a:prstGeom>
          <a:solidFill>
            <a:schemeClr val="bg2">
              <a:lumMod val="90000"/>
            </a:schemeClr>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4" name="Text 11"/>
          <p:cNvSpPr txBox="1"/>
          <p:nvPr/>
        </p:nvSpPr>
        <p:spPr>
          <a:xfrm>
            <a:off x="7223760" y="2057400"/>
            <a:ext cx="3840480" cy="365760"/>
          </a:xfrm>
          <a:prstGeom prst="rect">
            <a:avLst/>
          </a:prstGeom>
          <a:noFill/>
          <a:ln/>
        </p:spPr>
        <p:txBody>
          <a:bodyPr wrap="square" lIns="0" tIns="0" rIns="0" bIns="0" rtlCol="0" anchor="ctr"/>
          <a:lstStyle/>
          <a:p>
            <a:pPr marL="0" indent="0">
              <a:buNone/>
            </a:pPr>
            <a:r>
              <a:rPr lang="en-US" sz="1600" b="1" dirty="0">
                <a:solidFill>
                  <a:srgbClr val="232028"/>
                </a:solidFill>
                <a:latin typeface="Bookman Old Style" pitchFamily="34" charset="0"/>
                <a:ea typeface="Bookman Old Style" pitchFamily="34" charset="-122"/>
                <a:cs typeface="Bookman Old Style" pitchFamily="34" charset="-120"/>
              </a:rPr>
              <a:t>Track order volume</a:t>
            </a:r>
            <a:endParaRPr lang="en-US" sz="1600" dirty="0"/>
          </a:p>
        </p:txBody>
      </p:sp>
      <p:sp>
        <p:nvSpPr>
          <p:cNvPr id="15" name="Text 12"/>
          <p:cNvSpPr txBox="1"/>
          <p:nvPr/>
        </p:nvSpPr>
        <p:spPr>
          <a:xfrm>
            <a:off x="7223760" y="2450592"/>
            <a:ext cx="3840480" cy="960120"/>
          </a:xfrm>
          <a:prstGeom prst="rect">
            <a:avLst/>
          </a:prstGeom>
          <a:noFill/>
          <a:ln/>
        </p:spPr>
        <p:txBody>
          <a:bodyPr wrap="square" lIns="0" tIns="0" rIns="0" bIns="0" rtlCol="0" anchor="t"/>
          <a:lstStyle/>
          <a:p>
            <a:pPr marL="0" indent="0">
              <a:lnSpc>
                <a:spcPct val="125000"/>
              </a:lnSpc>
              <a:buNone/>
            </a:pPr>
            <a:r>
              <a:rPr lang="en-US" sz="1250" dirty="0">
                <a:solidFill>
                  <a:srgbClr val="6B6570"/>
                </a:solidFill>
                <a:latin typeface="Calibri" pitchFamily="34" charset="0"/>
                <a:ea typeface="Calibri" pitchFamily="34" charset="-122"/>
                <a:cs typeface="Calibri" pitchFamily="34" charset="-120"/>
              </a:rPr>
              <a:t>Understand how orders are distributed across hours of the day and weekends vs. weekdays.</a:t>
            </a:r>
            <a:endParaRPr lang="en-US" sz="1250" dirty="0"/>
          </a:p>
        </p:txBody>
      </p:sp>
      <p:sp>
        <p:nvSpPr>
          <p:cNvPr id="16" name="Shape 13"/>
          <p:cNvSpPr/>
          <p:nvPr/>
        </p:nvSpPr>
        <p:spPr>
          <a:xfrm>
            <a:off x="822960" y="3840480"/>
            <a:ext cx="5029200" cy="1691640"/>
          </a:xfrm>
          <a:prstGeom prst="roundRect">
            <a:avLst>
              <a:gd name="adj" fmla="val 5405"/>
            </a:avLst>
          </a:prstGeom>
          <a:solidFill>
            <a:srgbClr val="FFFFFF"/>
          </a:solidFill>
          <a:ln w="12700">
            <a:solidFill>
              <a:srgbClr val="ECE6DE"/>
            </a:solidFill>
            <a:prstDash val="solid"/>
          </a:ln>
        </p:spPr>
      </p:sp>
      <p:sp>
        <p:nvSpPr>
          <p:cNvPr id="17" name="Shape 14"/>
          <p:cNvSpPr/>
          <p:nvPr/>
        </p:nvSpPr>
        <p:spPr>
          <a:xfrm>
            <a:off x="1097280" y="4114800"/>
            <a:ext cx="457200" cy="457200"/>
          </a:xfrm>
          <a:prstGeom prst="roundRect">
            <a:avLst>
              <a:gd name="adj" fmla="val 20000"/>
            </a:avLst>
          </a:prstGeom>
          <a:solidFill>
            <a:srgbClr val="FF6B35"/>
          </a:solidFill>
          <a:ln/>
        </p:spPr>
      </p:sp>
      <p:sp>
        <p:nvSpPr>
          <p:cNvPr id="18" name="Text 15"/>
          <p:cNvSpPr txBox="1"/>
          <p:nvPr/>
        </p:nvSpPr>
        <p:spPr>
          <a:xfrm>
            <a:off x="1097280" y="4114800"/>
            <a:ext cx="457200" cy="457200"/>
          </a:xfrm>
          <a:prstGeom prst="rect">
            <a:avLst/>
          </a:prstGeom>
          <a:solidFill>
            <a:schemeClr val="bg2">
              <a:lumMod val="90000"/>
            </a:schemeClr>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19" name="Text 16"/>
          <p:cNvSpPr txBox="1"/>
          <p:nvPr/>
        </p:nvSpPr>
        <p:spPr>
          <a:xfrm>
            <a:off x="1737360" y="4069080"/>
            <a:ext cx="3840480" cy="365760"/>
          </a:xfrm>
          <a:prstGeom prst="rect">
            <a:avLst/>
          </a:prstGeom>
          <a:noFill/>
          <a:ln/>
        </p:spPr>
        <p:txBody>
          <a:bodyPr wrap="square" lIns="0" tIns="0" rIns="0" bIns="0" rtlCol="0" anchor="ctr"/>
          <a:lstStyle/>
          <a:p>
            <a:pPr marL="0" indent="0">
              <a:buNone/>
            </a:pPr>
            <a:r>
              <a:rPr lang="en-US" sz="1600" b="1" dirty="0">
                <a:solidFill>
                  <a:srgbClr val="232028"/>
                </a:solidFill>
                <a:latin typeface="Bookman Old Style" pitchFamily="34" charset="0"/>
                <a:ea typeface="Bookman Old Style" pitchFamily="34" charset="-122"/>
                <a:cs typeface="Bookman Old Style" pitchFamily="34" charset="-120"/>
              </a:rPr>
              <a:t>Surface problem routes</a:t>
            </a:r>
            <a:endParaRPr lang="en-US" sz="1600" dirty="0"/>
          </a:p>
        </p:txBody>
      </p:sp>
      <p:sp>
        <p:nvSpPr>
          <p:cNvPr id="20" name="Text 17"/>
          <p:cNvSpPr txBox="1"/>
          <p:nvPr/>
        </p:nvSpPr>
        <p:spPr>
          <a:xfrm>
            <a:off x="1737360" y="4462272"/>
            <a:ext cx="3840480" cy="960120"/>
          </a:xfrm>
          <a:prstGeom prst="rect">
            <a:avLst/>
          </a:prstGeom>
          <a:noFill/>
          <a:ln/>
        </p:spPr>
        <p:txBody>
          <a:bodyPr wrap="square" lIns="0" tIns="0" rIns="0" bIns="0" rtlCol="0" anchor="t"/>
          <a:lstStyle/>
          <a:p>
            <a:pPr marL="0" indent="0">
              <a:lnSpc>
                <a:spcPct val="125000"/>
              </a:lnSpc>
              <a:buNone/>
            </a:pPr>
            <a:r>
              <a:rPr lang="en-US" sz="1250" dirty="0">
                <a:solidFill>
                  <a:srgbClr val="6B6570"/>
                </a:solidFill>
                <a:latin typeface="Calibri" pitchFamily="34" charset="0"/>
                <a:ea typeface="Calibri" pitchFamily="34" charset="-122"/>
                <a:cs typeface="Calibri" pitchFamily="34" charset="-120"/>
              </a:rPr>
              <a:t>Pinpoint the slowest pickup → dropoff zone pairs so operations can act on them.</a:t>
            </a:r>
            <a:endParaRPr lang="en-US" sz="1250" dirty="0"/>
          </a:p>
        </p:txBody>
      </p:sp>
      <p:sp>
        <p:nvSpPr>
          <p:cNvPr id="21" name="Shape 18"/>
          <p:cNvSpPr/>
          <p:nvPr/>
        </p:nvSpPr>
        <p:spPr>
          <a:xfrm>
            <a:off x="6309360" y="3840480"/>
            <a:ext cx="5029200" cy="1691640"/>
          </a:xfrm>
          <a:prstGeom prst="roundRect">
            <a:avLst>
              <a:gd name="adj" fmla="val 5405"/>
            </a:avLst>
          </a:prstGeom>
          <a:solidFill>
            <a:srgbClr val="FFFFFF"/>
          </a:solidFill>
          <a:ln w="12700">
            <a:solidFill>
              <a:srgbClr val="ECE6DE"/>
            </a:solidFill>
            <a:prstDash val="solid"/>
          </a:ln>
        </p:spPr>
      </p:sp>
      <p:sp>
        <p:nvSpPr>
          <p:cNvPr id="22" name="Shape 19"/>
          <p:cNvSpPr/>
          <p:nvPr/>
        </p:nvSpPr>
        <p:spPr>
          <a:xfrm>
            <a:off x="6583680" y="4114800"/>
            <a:ext cx="457200" cy="457200"/>
          </a:xfrm>
          <a:prstGeom prst="roundRect">
            <a:avLst>
              <a:gd name="adj" fmla="val 20000"/>
            </a:avLst>
          </a:prstGeom>
          <a:solidFill>
            <a:srgbClr val="00A896"/>
          </a:solidFill>
          <a:ln/>
        </p:spPr>
      </p:sp>
      <p:sp>
        <p:nvSpPr>
          <p:cNvPr id="23" name="Text 20"/>
          <p:cNvSpPr txBox="1"/>
          <p:nvPr/>
        </p:nvSpPr>
        <p:spPr>
          <a:xfrm>
            <a:off x="6583680" y="4114800"/>
            <a:ext cx="457200" cy="457200"/>
          </a:xfrm>
          <a:prstGeom prst="rect">
            <a:avLst/>
          </a:prstGeom>
          <a:solidFill>
            <a:schemeClr val="bg2">
              <a:lumMod val="90000"/>
            </a:schemeClr>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4" name="Text 21"/>
          <p:cNvSpPr txBox="1"/>
          <p:nvPr/>
        </p:nvSpPr>
        <p:spPr>
          <a:xfrm>
            <a:off x="7223760" y="4069080"/>
            <a:ext cx="3840480" cy="365760"/>
          </a:xfrm>
          <a:prstGeom prst="rect">
            <a:avLst/>
          </a:prstGeom>
          <a:noFill/>
          <a:ln/>
        </p:spPr>
        <p:txBody>
          <a:bodyPr wrap="square" lIns="0" tIns="0" rIns="0" bIns="0" rtlCol="0" anchor="ctr"/>
          <a:lstStyle/>
          <a:p>
            <a:pPr marL="0" indent="0">
              <a:buNone/>
            </a:pPr>
            <a:r>
              <a:rPr lang="en-US" sz="1600" b="1" dirty="0">
                <a:solidFill>
                  <a:srgbClr val="232028"/>
                </a:solidFill>
                <a:latin typeface="Bookman Old Style" pitchFamily="34" charset="0"/>
                <a:ea typeface="Bookman Old Style" pitchFamily="34" charset="-122"/>
                <a:cs typeface="Bookman Old Style" pitchFamily="34" charset="-120"/>
              </a:rPr>
              <a:t>Support decisions</a:t>
            </a:r>
            <a:endParaRPr lang="en-US" sz="1600" dirty="0"/>
          </a:p>
        </p:txBody>
      </p:sp>
      <p:sp>
        <p:nvSpPr>
          <p:cNvPr id="25" name="Text 22"/>
          <p:cNvSpPr txBox="1"/>
          <p:nvPr/>
        </p:nvSpPr>
        <p:spPr>
          <a:xfrm>
            <a:off x="7223760" y="4462272"/>
            <a:ext cx="3840480" cy="960120"/>
          </a:xfrm>
          <a:prstGeom prst="rect">
            <a:avLst/>
          </a:prstGeom>
          <a:noFill/>
          <a:ln/>
        </p:spPr>
        <p:txBody>
          <a:bodyPr wrap="square" lIns="0" tIns="0" rIns="0" bIns="0" rtlCol="0" anchor="t"/>
          <a:lstStyle/>
          <a:p>
            <a:pPr marL="0" indent="0">
              <a:lnSpc>
                <a:spcPct val="125000"/>
              </a:lnSpc>
              <a:buNone/>
            </a:pPr>
            <a:r>
              <a:rPr lang="en-US" sz="1250" dirty="0">
                <a:solidFill>
                  <a:srgbClr val="6B6570"/>
                </a:solidFill>
                <a:latin typeface="Calibri" pitchFamily="34" charset="0"/>
                <a:ea typeface="Calibri" pitchFamily="34" charset="-122"/>
                <a:cs typeface="Calibri" pitchFamily="34" charset="-120"/>
              </a:rPr>
              <a:t>Turn the findings into a live, filterable dashboard stakeholders can explore themselves.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7F2"/>
        </a:solidFill>
        <a:effectLst/>
      </p:bgPr>
    </p:bg>
    <p:spTree>
      <p:nvGrpSpPr>
        <p:cNvPr id="1" name=""/>
        <p:cNvGrpSpPr/>
        <p:nvPr/>
      </p:nvGrpSpPr>
      <p:grpSpPr>
        <a:xfrm>
          <a:off x="0" y="0"/>
          <a:ext cx="0" cy="0"/>
          <a:chOff x="0" y="0"/>
          <a:chExt cx="0" cy="0"/>
        </a:xfrm>
      </p:grpSpPr>
      <p:sp>
        <p:nvSpPr>
          <p:cNvPr id="2" name="Shape 0"/>
          <p:cNvSpPr/>
          <p:nvPr/>
        </p:nvSpPr>
        <p:spPr>
          <a:xfrm>
            <a:off x="502920" y="457200"/>
            <a:ext cx="777240" cy="777240"/>
          </a:xfrm>
          <a:prstGeom prst="ellipse">
            <a:avLst/>
          </a:prstGeom>
          <a:solidFill>
            <a:schemeClr val="accent4"/>
          </a:solidFill>
          <a:ln/>
        </p:spPr>
      </p:sp>
      <p:sp>
        <p:nvSpPr>
          <p:cNvPr id="4" name="Text 1"/>
          <p:cNvSpPr txBox="1"/>
          <p:nvPr/>
        </p:nvSpPr>
        <p:spPr>
          <a:xfrm>
            <a:off x="1371600" y="502920"/>
            <a:ext cx="7315200" cy="320040"/>
          </a:xfrm>
          <a:prstGeom prst="rect">
            <a:avLst/>
          </a:prstGeom>
          <a:noFill/>
          <a:ln/>
        </p:spPr>
        <p:txBody>
          <a:bodyPr wrap="square" lIns="0" tIns="0" rIns="0" bIns="0" rtlCol="0" anchor="ctr"/>
          <a:lstStyle/>
          <a:p>
            <a:pPr marL="0" indent="0">
              <a:buNone/>
            </a:pPr>
            <a:r>
              <a:rPr lang="en-US" sz="1200" b="1" kern="0" spc="200" dirty="0">
                <a:solidFill>
                  <a:schemeClr val="accent4"/>
                </a:solidFill>
                <a:latin typeface="Calibri" pitchFamily="34" charset="0"/>
                <a:ea typeface="Calibri" pitchFamily="34" charset="-122"/>
                <a:cs typeface="Calibri" pitchFamily="34" charset="-120"/>
              </a:rPr>
              <a:t>03 · DATASET</a:t>
            </a:r>
            <a:endParaRPr lang="en-US" sz="1200" dirty="0">
              <a:solidFill>
                <a:schemeClr val="accent4"/>
              </a:solidFill>
            </a:endParaRPr>
          </a:p>
        </p:txBody>
      </p:sp>
      <p:sp>
        <p:nvSpPr>
          <p:cNvPr id="5" name="Text 2"/>
          <p:cNvSpPr txBox="1"/>
          <p:nvPr/>
        </p:nvSpPr>
        <p:spPr>
          <a:xfrm>
            <a:off x="1371600" y="777240"/>
            <a:ext cx="8686800" cy="640080"/>
          </a:xfrm>
          <a:prstGeom prst="rect">
            <a:avLst/>
          </a:prstGeom>
          <a:noFill/>
          <a:ln/>
        </p:spPr>
        <p:txBody>
          <a:bodyPr wrap="square" lIns="0" tIns="0" rIns="0" bIns="0" rtlCol="0" anchor="ctr"/>
          <a:lstStyle/>
          <a:p>
            <a:pPr marL="0" indent="0">
              <a:buNone/>
            </a:pPr>
            <a:r>
              <a:rPr lang="en-US" sz="3200" b="1" dirty="0">
                <a:solidFill>
                  <a:srgbClr val="232028"/>
                </a:solidFill>
                <a:latin typeface="Bookman Old Style" pitchFamily="34" charset="0"/>
                <a:ea typeface="Bookman Old Style" pitchFamily="34" charset="-122"/>
                <a:cs typeface="Bookman Old Style" pitchFamily="34" charset="-120"/>
              </a:rPr>
              <a:t>Dataset Used</a:t>
            </a:r>
            <a:endParaRPr lang="en-US" sz="3200" dirty="0"/>
          </a:p>
        </p:txBody>
      </p:sp>
      <p:sp>
        <p:nvSpPr>
          <p:cNvPr id="6" name="Text 3"/>
          <p:cNvSpPr txBox="1"/>
          <p:nvPr/>
        </p:nvSpPr>
        <p:spPr>
          <a:xfrm>
            <a:off x="822960" y="1691640"/>
            <a:ext cx="7315200" cy="365760"/>
          </a:xfrm>
          <a:prstGeom prst="rect">
            <a:avLst/>
          </a:prstGeom>
          <a:noFill/>
          <a:ln/>
        </p:spPr>
        <p:txBody>
          <a:bodyPr wrap="square" lIns="0" tIns="0" rIns="0" bIns="0" rtlCol="0" anchor="ctr"/>
          <a:lstStyle/>
          <a:p>
            <a:pPr marL="0" indent="0">
              <a:buNone/>
            </a:pPr>
            <a:r>
              <a:rPr lang="en-US" sz="1500" b="1" dirty="0">
                <a:solidFill>
                  <a:schemeClr val="accent4"/>
                </a:solidFill>
                <a:latin typeface="Courier New" pitchFamily="34" charset="0"/>
                <a:ea typeface="Courier New" pitchFamily="34" charset="-122"/>
                <a:cs typeface="Courier New" pitchFamily="34" charset="-120"/>
              </a:rPr>
              <a:t>Food_Delivery_Time_Prediction</a:t>
            </a:r>
            <a:endParaRPr lang="en-US" sz="1500" dirty="0">
              <a:solidFill>
                <a:schemeClr val="accent4"/>
              </a:solidFill>
            </a:endParaRPr>
          </a:p>
        </p:txBody>
      </p:sp>
      <p:sp>
        <p:nvSpPr>
          <p:cNvPr id="7" name="Text 4"/>
          <p:cNvSpPr txBox="1"/>
          <p:nvPr/>
        </p:nvSpPr>
        <p:spPr>
          <a:xfrm>
            <a:off x="822960" y="2103120"/>
            <a:ext cx="10241280" cy="548640"/>
          </a:xfrm>
          <a:prstGeom prst="rect">
            <a:avLst/>
          </a:prstGeom>
          <a:noFill/>
          <a:ln/>
        </p:spPr>
        <p:txBody>
          <a:bodyPr wrap="square" lIns="0" tIns="0" rIns="0" bIns="0" rtlCol="0" anchor="ctr"/>
          <a:lstStyle/>
          <a:p>
            <a:pPr marL="0" indent="0">
              <a:lnSpc>
                <a:spcPct val="125000"/>
              </a:lnSpc>
              <a:buNone/>
            </a:pPr>
            <a:r>
              <a:rPr lang="en-US" sz="1300" dirty="0">
                <a:solidFill>
                  <a:srgbClr val="6B6570"/>
                </a:solidFill>
                <a:latin typeface="Calibri" pitchFamily="34" charset="0"/>
                <a:ea typeface="Calibri" pitchFamily="34" charset="-122"/>
                <a:cs typeface="Calibri" pitchFamily="34" charset="-120"/>
              </a:rPr>
              <a:t>A single flat table of individual food-delivery orders loaded into Power BI and used to build visual on the dashboard.</a:t>
            </a:r>
            <a:endParaRPr lang="en-US" sz="1300" dirty="0"/>
          </a:p>
        </p:txBody>
      </p:sp>
      <p:sp>
        <p:nvSpPr>
          <p:cNvPr id="8" name="Shape 5"/>
          <p:cNvSpPr/>
          <p:nvPr/>
        </p:nvSpPr>
        <p:spPr>
          <a:xfrm>
            <a:off x="822960" y="2743200"/>
            <a:ext cx="3227832" cy="457200"/>
          </a:xfrm>
          <a:prstGeom prst="roundRect">
            <a:avLst>
              <a:gd name="adj" fmla="val 16000"/>
            </a:avLst>
          </a:prstGeom>
          <a:solidFill>
            <a:srgbClr val="FFFFFF"/>
          </a:solidFill>
          <a:ln w="12700">
            <a:solidFill>
              <a:srgbClr val="ECE6DE"/>
            </a:solidFill>
            <a:prstDash val="solid"/>
          </a:ln>
        </p:spPr>
      </p:sp>
      <p:sp>
        <p:nvSpPr>
          <p:cNvPr id="9" name="Shape 6"/>
          <p:cNvSpPr/>
          <p:nvPr/>
        </p:nvSpPr>
        <p:spPr>
          <a:xfrm rot="5400000">
            <a:off x="2382731" y="1181819"/>
            <a:ext cx="100584" cy="3227833"/>
          </a:xfrm>
          <a:prstGeom prst="rect">
            <a:avLst/>
          </a:prstGeom>
          <a:solidFill>
            <a:schemeClr val="accent4"/>
          </a:solidFill>
          <a:ln/>
        </p:spPr>
        <p:txBody>
          <a:bodyPr/>
          <a:lstStyle/>
          <a:p>
            <a:endParaRPr lang="en-IN" dirty="0"/>
          </a:p>
        </p:txBody>
      </p:sp>
      <p:sp>
        <p:nvSpPr>
          <p:cNvPr id="10" name="Text 7"/>
          <p:cNvSpPr txBox="1"/>
          <p:nvPr/>
        </p:nvSpPr>
        <p:spPr>
          <a:xfrm>
            <a:off x="1005840" y="2743200"/>
            <a:ext cx="2953512" cy="457200"/>
          </a:xfrm>
          <a:prstGeom prst="rect">
            <a:avLst/>
          </a:prstGeom>
          <a:noFill/>
          <a:ln/>
        </p:spPr>
        <p:txBody>
          <a:bodyPr wrap="square" lIns="0" tIns="0" rIns="0" bIns="0" rtlCol="0" anchor="ctr"/>
          <a:lstStyle/>
          <a:p>
            <a:pPr marL="0" indent="0" algn="l">
              <a:buNone/>
            </a:pPr>
            <a:r>
              <a:rPr lang="en-US" sz="1050" b="1" dirty="0">
                <a:solidFill>
                  <a:srgbClr val="232028"/>
                </a:solidFill>
                <a:latin typeface="Courier New" pitchFamily="34" charset="0"/>
                <a:ea typeface="Courier New" pitchFamily="34" charset="-122"/>
                <a:cs typeface="Courier New" pitchFamily="34" charset="-120"/>
              </a:rPr>
              <a:t>Order_Hour</a:t>
            </a:r>
            <a:endParaRPr lang="en-US" sz="1050" dirty="0"/>
          </a:p>
        </p:txBody>
      </p:sp>
      <p:sp>
        <p:nvSpPr>
          <p:cNvPr id="11" name="Shape 8"/>
          <p:cNvSpPr/>
          <p:nvPr/>
        </p:nvSpPr>
        <p:spPr>
          <a:xfrm>
            <a:off x="4233672" y="2743200"/>
            <a:ext cx="3227832" cy="457200"/>
          </a:xfrm>
          <a:prstGeom prst="roundRect">
            <a:avLst>
              <a:gd name="adj" fmla="val 16000"/>
            </a:avLst>
          </a:prstGeom>
          <a:solidFill>
            <a:srgbClr val="FFFFFF"/>
          </a:solidFill>
          <a:ln w="12700">
            <a:solidFill>
              <a:srgbClr val="ECE6DE"/>
            </a:solidFill>
            <a:prstDash val="solid"/>
          </a:ln>
        </p:spPr>
      </p:sp>
      <p:sp>
        <p:nvSpPr>
          <p:cNvPr id="13" name="Text 10"/>
          <p:cNvSpPr txBox="1"/>
          <p:nvPr/>
        </p:nvSpPr>
        <p:spPr>
          <a:xfrm>
            <a:off x="4416552" y="2743200"/>
            <a:ext cx="2953512" cy="457200"/>
          </a:xfrm>
          <a:prstGeom prst="rect">
            <a:avLst/>
          </a:prstGeom>
          <a:noFill/>
          <a:ln/>
        </p:spPr>
        <p:txBody>
          <a:bodyPr wrap="square" lIns="0" tIns="0" rIns="0" bIns="0" rtlCol="0" anchor="ctr"/>
          <a:lstStyle/>
          <a:p>
            <a:pPr marL="0" indent="0" algn="l">
              <a:buNone/>
            </a:pPr>
            <a:r>
              <a:rPr lang="en-US" sz="1050" b="1" dirty="0">
                <a:solidFill>
                  <a:srgbClr val="232028"/>
                </a:solidFill>
                <a:latin typeface="Courier New" pitchFamily="34" charset="0"/>
                <a:ea typeface="Courier New" pitchFamily="34" charset="-122"/>
                <a:cs typeface="Courier New" pitchFamily="34" charset="-120"/>
              </a:rPr>
              <a:t>Weather</a:t>
            </a:r>
            <a:endParaRPr lang="en-US" sz="1050" dirty="0"/>
          </a:p>
        </p:txBody>
      </p:sp>
      <p:sp>
        <p:nvSpPr>
          <p:cNvPr id="14" name="Shape 11"/>
          <p:cNvSpPr/>
          <p:nvPr/>
        </p:nvSpPr>
        <p:spPr>
          <a:xfrm>
            <a:off x="7644384" y="2743200"/>
            <a:ext cx="3227832" cy="457200"/>
          </a:xfrm>
          <a:prstGeom prst="roundRect">
            <a:avLst>
              <a:gd name="adj" fmla="val 16000"/>
            </a:avLst>
          </a:prstGeom>
          <a:solidFill>
            <a:srgbClr val="FFFFFF"/>
          </a:solidFill>
          <a:ln w="12700">
            <a:solidFill>
              <a:srgbClr val="ECE6DE"/>
            </a:solidFill>
            <a:prstDash val="solid"/>
          </a:ln>
        </p:spPr>
      </p:sp>
      <p:sp>
        <p:nvSpPr>
          <p:cNvPr id="16" name="Text 13"/>
          <p:cNvSpPr txBox="1"/>
          <p:nvPr/>
        </p:nvSpPr>
        <p:spPr>
          <a:xfrm>
            <a:off x="7827264" y="2743200"/>
            <a:ext cx="2953512" cy="457200"/>
          </a:xfrm>
          <a:prstGeom prst="rect">
            <a:avLst/>
          </a:prstGeom>
          <a:noFill/>
          <a:ln/>
        </p:spPr>
        <p:txBody>
          <a:bodyPr wrap="square" lIns="0" tIns="0" rIns="0" bIns="0" rtlCol="0" anchor="ctr"/>
          <a:lstStyle/>
          <a:p>
            <a:pPr marL="0" indent="0" algn="l">
              <a:buNone/>
            </a:pPr>
            <a:r>
              <a:rPr lang="en-US" sz="1050" b="1" dirty="0">
                <a:solidFill>
                  <a:srgbClr val="232028"/>
                </a:solidFill>
                <a:latin typeface="Courier New" pitchFamily="34" charset="0"/>
                <a:ea typeface="Courier New" pitchFamily="34" charset="-122"/>
                <a:cs typeface="Courier New" pitchFamily="34" charset="-120"/>
              </a:rPr>
              <a:t>Traffic_Level</a:t>
            </a:r>
            <a:endParaRPr lang="en-US" sz="1050" dirty="0"/>
          </a:p>
        </p:txBody>
      </p:sp>
      <p:sp>
        <p:nvSpPr>
          <p:cNvPr id="17" name="Shape 14"/>
          <p:cNvSpPr/>
          <p:nvPr/>
        </p:nvSpPr>
        <p:spPr>
          <a:xfrm>
            <a:off x="822960" y="3383280"/>
            <a:ext cx="3227832" cy="457200"/>
          </a:xfrm>
          <a:prstGeom prst="roundRect">
            <a:avLst>
              <a:gd name="adj" fmla="val 16000"/>
            </a:avLst>
          </a:prstGeom>
          <a:solidFill>
            <a:srgbClr val="FFFFFF"/>
          </a:solidFill>
          <a:ln w="12700">
            <a:solidFill>
              <a:srgbClr val="ECE6DE"/>
            </a:solidFill>
            <a:prstDash val="solid"/>
          </a:ln>
        </p:spPr>
      </p:sp>
      <p:sp>
        <p:nvSpPr>
          <p:cNvPr id="19" name="Text 16"/>
          <p:cNvSpPr txBox="1"/>
          <p:nvPr/>
        </p:nvSpPr>
        <p:spPr>
          <a:xfrm>
            <a:off x="1005840" y="3383280"/>
            <a:ext cx="2953512" cy="457200"/>
          </a:xfrm>
          <a:prstGeom prst="rect">
            <a:avLst/>
          </a:prstGeom>
          <a:noFill/>
          <a:ln/>
        </p:spPr>
        <p:txBody>
          <a:bodyPr wrap="square" lIns="0" tIns="0" rIns="0" bIns="0" rtlCol="0" anchor="ctr"/>
          <a:lstStyle/>
          <a:p>
            <a:pPr marL="0" indent="0" algn="l">
              <a:buNone/>
            </a:pPr>
            <a:r>
              <a:rPr lang="en-US" sz="1050" b="1" dirty="0">
                <a:solidFill>
                  <a:srgbClr val="232028"/>
                </a:solidFill>
                <a:latin typeface="Courier New" pitchFamily="34" charset="0"/>
                <a:ea typeface="Courier New" pitchFamily="34" charset="-122"/>
                <a:cs typeface="Courier New" pitchFamily="34" charset="-120"/>
              </a:rPr>
              <a:t>Vehicle_Type</a:t>
            </a:r>
            <a:endParaRPr lang="en-US" sz="1050" dirty="0"/>
          </a:p>
        </p:txBody>
      </p:sp>
      <p:sp>
        <p:nvSpPr>
          <p:cNvPr id="20" name="Shape 17"/>
          <p:cNvSpPr/>
          <p:nvPr/>
        </p:nvSpPr>
        <p:spPr>
          <a:xfrm>
            <a:off x="4233672" y="3383280"/>
            <a:ext cx="3227832" cy="457200"/>
          </a:xfrm>
          <a:prstGeom prst="roundRect">
            <a:avLst>
              <a:gd name="adj" fmla="val 16000"/>
            </a:avLst>
          </a:prstGeom>
          <a:solidFill>
            <a:srgbClr val="FFFFFF"/>
          </a:solidFill>
          <a:ln w="12700">
            <a:solidFill>
              <a:srgbClr val="ECE6DE"/>
            </a:solidFill>
            <a:prstDash val="solid"/>
          </a:ln>
        </p:spPr>
      </p:sp>
      <p:sp>
        <p:nvSpPr>
          <p:cNvPr id="22" name="Text 19"/>
          <p:cNvSpPr txBox="1"/>
          <p:nvPr/>
        </p:nvSpPr>
        <p:spPr>
          <a:xfrm>
            <a:off x="4416552" y="3383280"/>
            <a:ext cx="2953512" cy="457200"/>
          </a:xfrm>
          <a:prstGeom prst="rect">
            <a:avLst/>
          </a:prstGeom>
          <a:noFill/>
          <a:ln/>
        </p:spPr>
        <p:txBody>
          <a:bodyPr wrap="square" lIns="0" tIns="0" rIns="0" bIns="0" rtlCol="0" anchor="ctr"/>
          <a:lstStyle/>
          <a:p>
            <a:pPr marL="0" indent="0" algn="l">
              <a:buNone/>
            </a:pPr>
            <a:r>
              <a:rPr lang="en-US" sz="1050" b="1" dirty="0">
                <a:solidFill>
                  <a:srgbClr val="232028"/>
                </a:solidFill>
                <a:latin typeface="Courier New" pitchFamily="34" charset="0"/>
                <a:ea typeface="Courier New" pitchFamily="34" charset="-122"/>
                <a:cs typeface="Courier New" pitchFamily="34" charset="-120"/>
              </a:rPr>
              <a:t>Is_Weekend</a:t>
            </a:r>
            <a:endParaRPr lang="en-US" sz="1050" dirty="0"/>
          </a:p>
        </p:txBody>
      </p:sp>
      <p:sp>
        <p:nvSpPr>
          <p:cNvPr id="23" name="Shape 20"/>
          <p:cNvSpPr/>
          <p:nvPr/>
        </p:nvSpPr>
        <p:spPr>
          <a:xfrm>
            <a:off x="7644384" y="3383280"/>
            <a:ext cx="3227832" cy="457200"/>
          </a:xfrm>
          <a:prstGeom prst="roundRect">
            <a:avLst>
              <a:gd name="adj" fmla="val 16000"/>
            </a:avLst>
          </a:prstGeom>
          <a:solidFill>
            <a:srgbClr val="FFFFFF"/>
          </a:solidFill>
          <a:ln w="12700">
            <a:solidFill>
              <a:srgbClr val="ECE6DE"/>
            </a:solidFill>
            <a:prstDash val="solid"/>
          </a:ln>
        </p:spPr>
      </p:sp>
      <p:sp>
        <p:nvSpPr>
          <p:cNvPr id="25" name="Text 22"/>
          <p:cNvSpPr txBox="1"/>
          <p:nvPr/>
        </p:nvSpPr>
        <p:spPr>
          <a:xfrm>
            <a:off x="7827264" y="3383280"/>
            <a:ext cx="2953512" cy="457200"/>
          </a:xfrm>
          <a:prstGeom prst="rect">
            <a:avLst/>
          </a:prstGeom>
          <a:noFill/>
          <a:ln/>
        </p:spPr>
        <p:txBody>
          <a:bodyPr wrap="square" lIns="0" tIns="0" rIns="0" bIns="0" rtlCol="0" anchor="ctr"/>
          <a:lstStyle/>
          <a:p>
            <a:pPr marL="0" indent="0" algn="l">
              <a:buNone/>
            </a:pPr>
            <a:r>
              <a:rPr lang="en-US" sz="1050" b="1" dirty="0">
                <a:solidFill>
                  <a:srgbClr val="232028"/>
                </a:solidFill>
                <a:latin typeface="Courier New" pitchFamily="34" charset="0"/>
                <a:ea typeface="Courier New" pitchFamily="34" charset="-122"/>
                <a:cs typeface="Courier New" pitchFamily="34" charset="-120"/>
              </a:rPr>
              <a:t>Delivery_Distance_Category</a:t>
            </a:r>
            <a:endParaRPr lang="en-US" sz="1050" dirty="0"/>
          </a:p>
        </p:txBody>
      </p:sp>
      <p:sp>
        <p:nvSpPr>
          <p:cNvPr id="26" name="Shape 23"/>
          <p:cNvSpPr/>
          <p:nvPr/>
        </p:nvSpPr>
        <p:spPr>
          <a:xfrm>
            <a:off x="822960" y="4023360"/>
            <a:ext cx="3227832" cy="457200"/>
          </a:xfrm>
          <a:prstGeom prst="roundRect">
            <a:avLst>
              <a:gd name="adj" fmla="val 16000"/>
            </a:avLst>
          </a:prstGeom>
          <a:solidFill>
            <a:srgbClr val="FFFFFF"/>
          </a:solidFill>
          <a:ln w="12700">
            <a:solidFill>
              <a:srgbClr val="ECE6DE"/>
            </a:solidFill>
            <a:prstDash val="solid"/>
          </a:ln>
        </p:spPr>
      </p:sp>
      <p:sp>
        <p:nvSpPr>
          <p:cNvPr id="28" name="Text 25"/>
          <p:cNvSpPr txBox="1"/>
          <p:nvPr/>
        </p:nvSpPr>
        <p:spPr>
          <a:xfrm>
            <a:off x="1005840" y="4023360"/>
            <a:ext cx="2953512" cy="457200"/>
          </a:xfrm>
          <a:prstGeom prst="rect">
            <a:avLst/>
          </a:prstGeom>
          <a:noFill/>
          <a:ln/>
        </p:spPr>
        <p:txBody>
          <a:bodyPr wrap="square" lIns="0" tIns="0" rIns="0" bIns="0" rtlCol="0" anchor="ctr"/>
          <a:lstStyle/>
          <a:p>
            <a:pPr marL="0" indent="0" algn="l">
              <a:buNone/>
            </a:pPr>
            <a:r>
              <a:rPr lang="en-US" sz="1050" b="1" dirty="0">
                <a:solidFill>
                  <a:srgbClr val="232028"/>
                </a:solidFill>
                <a:latin typeface="Courier New" pitchFamily="34" charset="0"/>
                <a:ea typeface="Courier New" pitchFamily="34" charset="-122"/>
                <a:cs typeface="Courier New" pitchFamily="34" charset="-120"/>
              </a:rPr>
              <a:t>Pickup_Zone</a:t>
            </a:r>
            <a:endParaRPr lang="en-US" sz="1050" dirty="0"/>
          </a:p>
        </p:txBody>
      </p:sp>
      <p:sp>
        <p:nvSpPr>
          <p:cNvPr id="29" name="Shape 26"/>
          <p:cNvSpPr/>
          <p:nvPr/>
        </p:nvSpPr>
        <p:spPr>
          <a:xfrm>
            <a:off x="4233672" y="4023360"/>
            <a:ext cx="3227832" cy="457200"/>
          </a:xfrm>
          <a:prstGeom prst="roundRect">
            <a:avLst>
              <a:gd name="adj" fmla="val 16000"/>
            </a:avLst>
          </a:prstGeom>
          <a:solidFill>
            <a:srgbClr val="FFFFFF"/>
          </a:solidFill>
          <a:ln w="12700">
            <a:solidFill>
              <a:srgbClr val="ECE6DE"/>
            </a:solidFill>
            <a:prstDash val="solid"/>
          </a:ln>
        </p:spPr>
      </p:sp>
      <p:sp>
        <p:nvSpPr>
          <p:cNvPr id="31" name="Text 28"/>
          <p:cNvSpPr txBox="1"/>
          <p:nvPr/>
        </p:nvSpPr>
        <p:spPr>
          <a:xfrm>
            <a:off x="4416552" y="4023360"/>
            <a:ext cx="2953512" cy="457200"/>
          </a:xfrm>
          <a:prstGeom prst="rect">
            <a:avLst/>
          </a:prstGeom>
          <a:noFill/>
          <a:ln/>
        </p:spPr>
        <p:txBody>
          <a:bodyPr wrap="square" lIns="0" tIns="0" rIns="0" bIns="0" rtlCol="0" anchor="ctr"/>
          <a:lstStyle/>
          <a:p>
            <a:pPr marL="0" indent="0" algn="l">
              <a:buNone/>
            </a:pPr>
            <a:r>
              <a:rPr lang="en-US" sz="1050" b="1" dirty="0">
                <a:solidFill>
                  <a:srgbClr val="232028"/>
                </a:solidFill>
                <a:latin typeface="Courier New" pitchFamily="34" charset="0"/>
                <a:ea typeface="Courier New" pitchFamily="34" charset="-122"/>
                <a:cs typeface="Courier New" pitchFamily="34" charset="-120"/>
              </a:rPr>
              <a:t>Dropoff_Zone</a:t>
            </a:r>
            <a:endParaRPr lang="en-US" sz="1050" dirty="0"/>
          </a:p>
        </p:txBody>
      </p:sp>
      <p:sp>
        <p:nvSpPr>
          <p:cNvPr id="33" name="Text 30"/>
          <p:cNvSpPr txBox="1"/>
          <p:nvPr/>
        </p:nvSpPr>
        <p:spPr>
          <a:xfrm>
            <a:off x="891540" y="5073938"/>
            <a:ext cx="1426090" cy="331430"/>
          </a:xfrm>
          <a:prstGeom prst="rect">
            <a:avLst/>
          </a:prstGeom>
          <a:solidFill>
            <a:schemeClr val="accent4">
              <a:lumMod val="20000"/>
              <a:lumOff val="80000"/>
            </a:schemeClr>
          </a:solidFill>
          <a:ln/>
        </p:spPr>
        <p:txBody>
          <a:bodyPr wrap="square" lIns="0" tIns="0" rIns="0" bIns="0" rtlCol="0" anchor="ctr"/>
          <a:lstStyle/>
          <a:p>
            <a:pPr marL="0" indent="0">
              <a:buNone/>
            </a:pPr>
            <a:r>
              <a:rPr lang="en-US" sz="1100" b="1" kern="0" spc="200" dirty="0">
                <a:solidFill>
                  <a:srgbClr val="FFB100"/>
                </a:solidFill>
                <a:latin typeface="Calibri" pitchFamily="34" charset="0"/>
                <a:ea typeface="Calibri" pitchFamily="34" charset="-122"/>
                <a:cs typeface="Calibri" pitchFamily="34" charset="-120"/>
              </a:rPr>
              <a:t> ENTRY COUNT:</a:t>
            </a:r>
            <a:endParaRPr lang="en-US" sz="1100" dirty="0"/>
          </a:p>
        </p:txBody>
      </p:sp>
      <p:sp>
        <p:nvSpPr>
          <p:cNvPr id="34" name="Text 31"/>
          <p:cNvSpPr txBox="1"/>
          <p:nvPr/>
        </p:nvSpPr>
        <p:spPr>
          <a:xfrm>
            <a:off x="1151878" y="5376672"/>
            <a:ext cx="5486400" cy="411480"/>
          </a:xfrm>
          <a:prstGeom prst="rect">
            <a:avLst/>
          </a:prstGeom>
          <a:noFill/>
          <a:ln/>
        </p:spPr>
        <p:txBody>
          <a:bodyPr wrap="square" lIns="0" tIns="0" rIns="0" bIns="0" rtlCol="0" anchor="ctr"/>
          <a:lstStyle/>
          <a:p>
            <a:pPr marL="0" indent="0">
              <a:buNone/>
            </a:pPr>
            <a:r>
              <a:rPr lang="en-US" sz="1700" b="1" dirty="0">
                <a:latin typeface="Bookman Old Style" pitchFamily="34" charset="0"/>
                <a:ea typeface="Bookman Old Style" pitchFamily="34" charset="-122"/>
                <a:cs typeface="Bookman Old Style" pitchFamily="34" charset="-120"/>
              </a:rPr>
              <a:t>Total rows: 50,000</a:t>
            </a:r>
            <a:endParaRPr lang="en-US" sz="1700" dirty="0"/>
          </a:p>
        </p:txBody>
      </p:sp>
      <p:pic>
        <p:nvPicPr>
          <p:cNvPr id="41" name="Image 0" descr="bullseye.png">
            <a:extLst>
              <a:ext uri="{FF2B5EF4-FFF2-40B4-BE49-F238E27FC236}">
                <a16:creationId xmlns:a16="http://schemas.microsoft.com/office/drawing/2014/main" id="{0C475FE4-88C0-45A6-8CFB-39ADA8755B6C}"/>
              </a:ext>
            </a:extLst>
          </p:cNvPr>
          <p:cNvPicPr>
            <a:picLocks noChangeAspect="1"/>
          </p:cNvPicPr>
          <p:nvPr/>
        </p:nvPicPr>
        <p:blipFill>
          <a:blip r:embed="rId3"/>
          <a:stretch>
            <a:fillRect/>
          </a:stretch>
        </p:blipFill>
        <p:spPr>
          <a:xfrm>
            <a:off x="673913" y="628193"/>
            <a:ext cx="435254" cy="435254"/>
          </a:xfrm>
          <a:prstGeom prst="rect">
            <a:avLst/>
          </a:prstGeom>
        </p:spPr>
      </p:pic>
      <p:sp>
        <p:nvSpPr>
          <p:cNvPr id="43" name="Shape 6">
            <a:extLst>
              <a:ext uri="{FF2B5EF4-FFF2-40B4-BE49-F238E27FC236}">
                <a16:creationId xmlns:a16="http://schemas.microsoft.com/office/drawing/2014/main" id="{893EC88E-44D5-EB88-4559-520CFAC76C8A}"/>
              </a:ext>
            </a:extLst>
          </p:cNvPr>
          <p:cNvSpPr/>
          <p:nvPr/>
        </p:nvSpPr>
        <p:spPr>
          <a:xfrm rot="5400000">
            <a:off x="5797297" y="1161288"/>
            <a:ext cx="100584" cy="3227833"/>
          </a:xfrm>
          <a:prstGeom prst="rect">
            <a:avLst/>
          </a:prstGeom>
          <a:solidFill>
            <a:schemeClr val="accent4"/>
          </a:solidFill>
          <a:ln/>
        </p:spPr>
        <p:txBody>
          <a:bodyPr/>
          <a:lstStyle/>
          <a:p>
            <a:endParaRPr lang="en-IN" dirty="0"/>
          </a:p>
        </p:txBody>
      </p:sp>
      <p:sp>
        <p:nvSpPr>
          <p:cNvPr id="45" name="Shape 6">
            <a:extLst>
              <a:ext uri="{FF2B5EF4-FFF2-40B4-BE49-F238E27FC236}">
                <a16:creationId xmlns:a16="http://schemas.microsoft.com/office/drawing/2014/main" id="{3713A48F-4A9C-2C45-6C70-CDA7259EB456}"/>
              </a:ext>
            </a:extLst>
          </p:cNvPr>
          <p:cNvSpPr/>
          <p:nvPr/>
        </p:nvSpPr>
        <p:spPr>
          <a:xfrm rot="5400000">
            <a:off x="5793445" y="1831045"/>
            <a:ext cx="100584" cy="3227833"/>
          </a:xfrm>
          <a:prstGeom prst="rect">
            <a:avLst/>
          </a:prstGeom>
          <a:solidFill>
            <a:schemeClr val="accent4"/>
          </a:solidFill>
          <a:ln/>
        </p:spPr>
        <p:txBody>
          <a:bodyPr/>
          <a:lstStyle/>
          <a:p>
            <a:endParaRPr lang="en-IN" dirty="0"/>
          </a:p>
        </p:txBody>
      </p:sp>
      <p:sp>
        <p:nvSpPr>
          <p:cNvPr id="47" name="Shape 6">
            <a:extLst>
              <a:ext uri="{FF2B5EF4-FFF2-40B4-BE49-F238E27FC236}">
                <a16:creationId xmlns:a16="http://schemas.microsoft.com/office/drawing/2014/main" id="{6073EF03-AA12-D2E5-A678-E0CD000D3378}"/>
              </a:ext>
            </a:extLst>
          </p:cNvPr>
          <p:cNvSpPr/>
          <p:nvPr/>
        </p:nvSpPr>
        <p:spPr>
          <a:xfrm rot="5400000">
            <a:off x="2382731" y="1780752"/>
            <a:ext cx="100584" cy="3227833"/>
          </a:xfrm>
          <a:prstGeom prst="rect">
            <a:avLst/>
          </a:prstGeom>
          <a:solidFill>
            <a:schemeClr val="accent4"/>
          </a:solidFill>
          <a:ln/>
        </p:spPr>
        <p:txBody>
          <a:bodyPr/>
          <a:lstStyle/>
          <a:p>
            <a:endParaRPr lang="en-IN" dirty="0"/>
          </a:p>
        </p:txBody>
      </p:sp>
      <p:sp>
        <p:nvSpPr>
          <p:cNvPr id="49" name="Shape 6">
            <a:extLst>
              <a:ext uri="{FF2B5EF4-FFF2-40B4-BE49-F238E27FC236}">
                <a16:creationId xmlns:a16="http://schemas.microsoft.com/office/drawing/2014/main" id="{98C99D27-E233-69E8-36D6-217A2A278A43}"/>
              </a:ext>
            </a:extLst>
          </p:cNvPr>
          <p:cNvSpPr/>
          <p:nvPr/>
        </p:nvSpPr>
        <p:spPr>
          <a:xfrm rot="5400000">
            <a:off x="2386584" y="2459736"/>
            <a:ext cx="100584" cy="3227833"/>
          </a:xfrm>
          <a:prstGeom prst="rect">
            <a:avLst/>
          </a:prstGeom>
          <a:solidFill>
            <a:schemeClr val="accent4"/>
          </a:solidFill>
          <a:ln/>
        </p:spPr>
        <p:txBody>
          <a:bodyPr/>
          <a:lstStyle/>
          <a:p>
            <a:endParaRPr lang="en-IN" dirty="0"/>
          </a:p>
        </p:txBody>
      </p:sp>
      <p:sp>
        <p:nvSpPr>
          <p:cNvPr id="51" name="Shape 6">
            <a:extLst>
              <a:ext uri="{FF2B5EF4-FFF2-40B4-BE49-F238E27FC236}">
                <a16:creationId xmlns:a16="http://schemas.microsoft.com/office/drawing/2014/main" id="{3FAEC560-1B0E-D704-D438-D928D31393E7}"/>
              </a:ext>
            </a:extLst>
          </p:cNvPr>
          <p:cNvSpPr/>
          <p:nvPr/>
        </p:nvSpPr>
        <p:spPr>
          <a:xfrm rot="5400000">
            <a:off x="9208008" y="1819656"/>
            <a:ext cx="100584" cy="3227833"/>
          </a:xfrm>
          <a:prstGeom prst="rect">
            <a:avLst/>
          </a:prstGeom>
          <a:solidFill>
            <a:schemeClr val="accent4"/>
          </a:solidFill>
          <a:ln/>
        </p:spPr>
        <p:txBody>
          <a:bodyPr/>
          <a:lstStyle/>
          <a:p>
            <a:endParaRPr lang="en-IN" dirty="0"/>
          </a:p>
        </p:txBody>
      </p:sp>
      <p:sp>
        <p:nvSpPr>
          <p:cNvPr id="53" name="Shape 6">
            <a:extLst>
              <a:ext uri="{FF2B5EF4-FFF2-40B4-BE49-F238E27FC236}">
                <a16:creationId xmlns:a16="http://schemas.microsoft.com/office/drawing/2014/main" id="{C18E74B2-E9BE-0035-AEFE-72437B613DA0}"/>
              </a:ext>
            </a:extLst>
          </p:cNvPr>
          <p:cNvSpPr/>
          <p:nvPr/>
        </p:nvSpPr>
        <p:spPr>
          <a:xfrm rot="5400000">
            <a:off x="9208008" y="1187943"/>
            <a:ext cx="100584" cy="3227833"/>
          </a:xfrm>
          <a:prstGeom prst="rect">
            <a:avLst/>
          </a:prstGeom>
          <a:solidFill>
            <a:schemeClr val="accent4"/>
          </a:solidFill>
          <a:ln/>
        </p:spPr>
        <p:txBody>
          <a:bodyPr/>
          <a:lstStyle/>
          <a:p>
            <a:endParaRPr lang="en-IN" dirty="0"/>
          </a:p>
        </p:txBody>
      </p:sp>
      <p:sp>
        <p:nvSpPr>
          <p:cNvPr id="55" name="Shape 6">
            <a:extLst>
              <a:ext uri="{FF2B5EF4-FFF2-40B4-BE49-F238E27FC236}">
                <a16:creationId xmlns:a16="http://schemas.microsoft.com/office/drawing/2014/main" id="{ACA86C8D-D2E2-10A3-7C2E-CB19D3D39D0B}"/>
              </a:ext>
            </a:extLst>
          </p:cNvPr>
          <p:cNvSpPr/>
          <p:nvPr/>
        </p:nvSpPr>
        <p:spPr>
          <a:xfrm rot="5400000">
            <a:off x="5793445" y="2455164"/>
            <a:ext cx="100584" cy="3227833"/>
          </a:xfrm>
          <a:prstGeom prst="rect">
            <a:avLst/>
          </a:prstGeom>
          <a:solidFill>
            <a:schemeClr val="accent4"/>
          </a:solidFill>
          <a:ln/>
        </p:spPr>
        <p:txBody>
          <a:bodyPr/>
          <a:lstStyle/>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7F2"/>
        </a:solidFill>
        <a:effectLst/>
      </p:bgPr>
    </p:bg>
    <p:spTree>
      <p:nvGrpSpPr>
        <p:cNvPr id="1" name=""/>
        <p:cNvGrpSpPr/>
        <p:nvPr/>
      </p:nvGrpSpPr>
      <p:grpSpPr>
        <a:xfrm>
          <a:off x="0" y="0"/>
          <a:ext cx="0" cy="0"/>
          <a:chOff x="0" y="0"/>
          <a:chExt cx="0" cy="0"/>
        </a:xfrm>
      </p:grpSpPr>
      <p:sp>
        <p:nvSpPr>
          <p:cNvPr id="2" name="Shape 0"/>
          <p:cNvSpPr/>
          <p:nvPr/>
        </p:nvSpPr>
        <p:spPr>
          <a:xfrm>
            <a:off x="502920" y="457200"/>
            <a:ext cx="777240" cy="777240"/>
          </a:xfrm>
          <a:prstGeom prst="ellipse">
            <a:avLst/>
          </a:prstGeom>
          <a:solidFill>
            <a:schemeClr val="accent4"/>
          </a:solidFill>
          <a:ln/>
        </p:spPr>
      </p:sp>
      <p:sp>
        <p:nvSpPr>
          <p:cNvPr id="4" name="Text 1"/>
          <p:cNvSpPr txBox="1"/>
          <p:nvPr/>
        </p:nvSpPr>
        <p:spPr>
          <a:xfrm>
            <a:off x="1371600" y="502920"/>
            <a:ext cx="7315200" cy="320040"/>
          </a:xfrm>
          <a:prstGeom prst="rect">
            <a:avLst/>
          </a:prstGeom>
          <a:noFill/>
          <a:ln/>
        </p:spPr>
        <p:txBody>
          <a:bodyPr wrap="square" lIns="0" tIns="0" rIns="0" bIns="0" rtlCol="0" anchor="ctr"/>
          <a:lstStyle/>
          <a:p>
            <a:pPr marL="0" indent="0">
              <a:buNone/>
            </a:pPr>
            <a:r>
              <a:rPr lang="en-US" sz="1200" b="1" kern="0" spc="200" dirty="0">
                <a:solidFill>
                  <a:schemeClr val="accent4"/>
                </a:solidFill>
                <a:latin typeface="Calibri" pitchFamily="34" charset="0"/>
                <a:ea typeface="Calibri" pitchFamily="34" charset="-122"/>
                <a:cs typeface="Calibri" pitchFamily="34" charset="-120"/>
              </a:rPr>
              <a:t>04 · KEY DETAILS</a:t>
            </a:r>
            <a:endParaRPr lang="en-US" sz="1200" dirty="0">
              <a:solidFill>
                <a:schemeClr val="accent4"/>
              </a:solidFill>
            </a:endParaRPr>
          </a:p>
        </p:txBody>
      </p:sp>
      <p:sp>
        <p:nvSpPr>
          <p:cNvPr id="5" name="Text 2"/>
          <p:cNvSpPr txBox="1"/>
          <p:nvPr/>
        </p:nvSpPr>
        <p:spPr>
          <a:xfrm>
            <a:off x="1371600" y="777240"/>
            <a:ext cx="8686800" cy="640080"/>
          </a:xfrm>
          <a:prstGeom prst="rect">
            <a:avLst/>
          </a:prstGeom>
          <a:noFill/>
          <a:ln/>
        </p:spPr>
        <p:txBody>
          <a:bodyPr wrap="square" lIns="0" tIns="0" rIns="0" bIns="0" rtlCol="0" anchor="ctr"/>
          <a:lstStyle/>
          <a:p>
            <a:pPr marL="0" indent="0">
              <a:buNone/>
            </a:pPr>
            <a:r>
              <a:rPr lang="en-US" sz="3200" b="1" dirty="0">
                <a:solidFill>
                  <a:srgbClr val="232028"/>
                </a:solidFill>
                <a:latin typeface="Bookman Old Style" pitchFamily="34" charset="0"/>
                <a:ea typeface="Bookman Old Style" pitchFamily="34" charset="-122"/>
                <a:cs typeface="Bookman Old Style" pitchFamily="34" charset="-120"/>
              </a:rPr>
              <a:t>Column Reference</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0832201"/>
              </p:ext>
            </p:extLst>
          </p:nvPr>
        </p:nvGraphicFramePr>
        <p:xfrm>
          <a:off x="822960" y="1691640"/>
          <a:ext cx="10241280" cy="4389120"/>
        </p:xfrm>
        <a:graphic>
          <a:graphicData uri="http://schemas.openxmlformats.org/drawingml/2006/table">
            <a:tbl>
              <a:tblPr/>
              <a:tblGrid>
                <a:gridCol w="3108960">
                  <a:extLst>
                    <a:ext uri="{9D8B030D-6E8A-4147-A177-3AD203B41FA5}">
                      <a16:colId xmlns:a16="http://schemas.microsoft.com/office/drawing/2014/main" val="20000"/>
                    </a:ext>
                  </a:extLst>
                </a:gridCol>
                <a:gridCol w="7132320">
                  <a:extLst>
                    <a:ext uri="{9D8B030D-6E8A-4147-A177-3AD203B41FA5}">
                      <a16:colId xmlns:a16="http://schemas.microsoft.com/office/drawing/2014/main" val="20001"/>
                    </a:ext>
                  </a:extLst>
                </a:gridCol>
              </a:tblGrid>
              <a:tr h="54864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COLUMN</a:t>
                      </a:r>
                      <a:endParaRPr lang="en-US" sz="1100" dirty="0">
                        <a:latin typeface="Calibri" charset="0"/>
                        <a:ea typeface="Calibri" charset="0"/>
                        <a:cs typeface="Calibri"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14141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DESCRIPTION</a:t>
                      </a:r>
                      <a:endParaRPr lang="en-US" sz="1100" dirty="0">
                        <a:latin typeface="Calibri" charset="0"/>
                        <a:ea typeface="Calibri" charset="0"/>
                        <a:cs typeface="Calibri"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14141F"/>
                    </a:solidFill>
                  </a:tcPr>
                </a:tc>
                <a:extLst>
                  <a:ext uri="{0D108BD9-81ED-4DB2-BD59-A6C34878D82A}">
                    <a16:rowId xmlns:a16="http://schemas.microsoft.com/office/drawing/2014/main" val="10000"/>
                  </a:ext>
                </a:extLst>
              </a:tr>
              <a:tr h="548640">
                <a:tc>
                  <a:txBody>
                    <a:bodyPr/>
                    <a:lstStyle/>
                    <a:p>
                      <a:pPr marL="0" indent="0">
                        <a:buNone/>
                      </a:pPr>
                      <a:r>
                        <a:rPr lang="en-US" sz="1150" b="1" dirty="0">
                          <a:solidFill>
                            <a:schemeClr val="accent4"/>
                          </a:solidFill>
                          <a:latin typeface="Courier New" pitchFamily="34" charset="0"/>
                          <a:ea typeface="Courier New" pitchFamily="34" charset="-122"/>
                          <a:cs typeface="Courier New" pitchFamily="34" charset="-120"/>
                        </a:rPr>
                        <a:t>Order_Hour</a:t>
                      </a:r>
                      <a:endParaRPr lang="en-US" sz="1150" dirty="0">
                        <a:solidFill>
                          <a:schemeClr val="accent4"/>
                        </a:solidFill>
                        <a:latin typeface="Courier New" charset="0"/>
                        <a:ea typeface="Courier New" charset="0"/>
                        <a:cs typeface="Courier New"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FFFFFF"/>
                    </a:solidFill>
                  </a:tcPr>
                </a:tc>
                <a:tc>
                  <a:txBody>
                    <a:bodyPr/>
                    <a:lstStyle/>
                    <a:p>
                      <a:pPr marL="0" indent="0">
                        <a:buNone/>
                      </a:pPr>
                      <a:r>
                        <a:rPr lang="en-US" sz="1150" dirty="0">
                          <a:solidFill>
                            <a:srgbClr val="232028"/>
                          </a:solidFill>
                          <a:latin typeface="Calibri" pitchFamily="34" charset="0"/>
                          <a:ea typeface="Calibri" pitchFamily="34" charset="-122"/>
                          <a:cs typeface="Calibri" pitchFamily="34" charset="-120"/>
                        </a:rPr>
                        <a:t>Hour of day the order was placed (0–23).</a:t>
                      </a:r>
                      <a:endParaRPr lang="en-US" sz="1150" dirty="0">
                        <a:latin typeface="Calibri" charset="0"/>
                        <a:ea typeface="Calibri" charset="0"/>
                        <a:cs typeface="Calibri"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150" b="1" dirty="0">
                          <a:solidFill>
                            <a:schemeClr val="accent4">
                              <a:lumMod val="50000"/>
                            </a:schemeClr>
                          </a:solidFill>
                          <a:latin typeface="Courier New" pitchFamily="34" charset="0"/>
                          <a:ea typeface="Courier New" pitchFamily="34" charset="-122"/>
                          <a:cs typeface="Courier New" pitchFamily="34" charset="-120"/>
                        </a:rPr>
                        <a:t>Weather</a:t>
                      </a:r>
                      <a:endParaRPr lang="en-US" sz="1150" dirty="0">
                        <a:solidFill>
                          <a:schemeClr val="accent4">
                            <a:lumMod val="50000"/>
                          </a:schemeClr>
                        </a:solidFill>
                        <a:latin typeface="Courier New" charset="0"/>
                        <a:ea typeface="Courier New" charset="0"/>
                        <a:cs typeface="Courier New"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F2EDE5"/>
                    </a:solidFill>
                  </a:tcPr>
                </a:tc>
                <a:tc>
                  <a:txBody>
                    <a:bodyPr/>
                    <a:lstStyle/>
                    <a:p>
                      <a:pPr marL="0" indent="0">
                        <a:buNone/>
                      </a:pPr>
                      <a:r>
                        <a:rPr lang="en-US" sz="1150" dirty="0">
                          <a:solidFill>
                            <a:srgbClr val="232028"/>
                          </a:solidFill>
                          <a:latin typeface="Calibri" pitchFamily="34" charset="0"/>
                          <a:ea typeface="Calibri" pitchFamily="34" charset="-122"/>
                          <a:cs typeface="Calibri" pitchFamily="34" charset="-120"/>
                        </a:rPr>
                        <a:t>Weather condition at order time. Eg: Clear, Rainy, Stormy.</a:t>
                      </a:r>
                      <a:endParaRPr lang="en-US" sz="1150" dirty="0">
                        <a:latin typeface="Calibri" charset="0"/>
                        <a:ea typeface="Calibri" charset="0"/>
                        <a:cs typeface="Calibri"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F2EDE5"/>
                    </a:solidFill>
                  </a:tcPr>
                </a:tc>
                <a:extLst>
                  <a:ext uri="{0D108BD9-81ED-4DB2-BD59-A6C34878D82A}">
                    <a16:rowId xmlns:a16="http://schemas.microsoft.com/office/drawing/2014/main" val="10002"/>
                  </a:ext>
                </a:extLst>
              </a:tr>
              <a:tr h="548640">
                <a:tc>
                  <a:txBody>
                    <a:bodyPr/>
                    <a:lstStyle/>
                    <a:p>
                      <a:pPr marL="0" indent="0">
                        <a:buNone/>
                      </a:pPr>
                      <a:r>
                        <a:rPr lang="en-US" sz="1150" b="1" dirty="0">
                          <a:solidFill>
                            <a:schemeClr val="accent4"/>
                          </a:solidFill>
                          <a:latin typeface="Courier New" pitchFamily="34" charset="0"/>
                          <a:ea typeface="Courier New" pitchFamily="34" charset="-122"/>
                          <a:cs typeface="Courier New" pitchFamily="34" charset="-120"/>
                        </a:rPr>
                        <a:t>Traffic_Level</a:t>
                      </a:r>
                      <a:endParaRPr lang="en-US" sz="1150" dirty="0">
                        <a:solidFill>
                          <a:schemeClr val="accent4"/>
                        </a:solidFill>
                        <a:latin typeface="Courier New" charset="0"/>
                        <a:ea typeface="Courier New" charset="0"/>
                        <a:cs typeface="Courier New"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FFFFFF"/>
                    </a:solidFill>
                  </a:tcPr>
                </a:tc>
                <a:tc>
                  <a:txBody>
                    <a:bodyPr/>
                    <a:lstStyle/>
                    <a:p>
                      <a:pPr marL="0" indent="0">
                        <a:buNone/>
                      </a:pPr>
                      <a:r>
                        <a:rPr lang="en-US" sz="1150" dirty="0">
                          <a:solidFill>
                            <a:srgbClr val="232028"/>
                          </a:solidFill>
                          <a:latin typeface="Calibri" pitchFamily="34" charset="0"/>
                          <a:ea typeface="Calibri" pitchFamily="34" charset="-122"/>
                          <a:cs typeface="Calibri" pitchFamily="34" charset="-120"/>
                        </a:rPr>
                        <a:t>Congestion level on the route - Low / Medium / High.</a:t>
                      </a:r>
                      <a:endParaRPr lang="en-US" sz="1150" dirty="0">
                        <a:latin typeface="Calibri" charset="0"/>
                        <a:ea typeface="Calibri" charset="0"/>
                        <a:cs typeface="Calibri"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150" b="1" dirty="0">
                          <a:solidFill>
                            <a:schemeClr val="accent4">
                              <a:lumMod val="50000"/>
                            </a:schemeClr>
                          </a:solidFill>
                          <a:latin typeface="Courier New" pitchFamily="34" charset="0"/>
                          <a:ea typeface="Courier New" pitchFamily="34" charset="-122"/>
                          <a:cs typeface="Courier New" pitchFamily="34" charset="-120"/>
                        </a:rPr>
                        <a:t>Vehicle_Type</a:t>
                      </a:r>
                      <a:endParaRPr lang="en-US" sz="1150" dirty="0">
                        <a:solidFill>
                          <a:schemeClr val="accent4">
                            <a:lumMod val="50000"/>
                          </a:schemeClr>
                        </a:solidFill>
                        <a:latin typeface="Courier New" charset="0"/>
                        <a:ea typeface="Courier New" charset="0"/>
                        <a:cs typeface="Courier New"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F2EDE5"/>
                    </a:solidFill>
                  </a:tcPr>
                </a:tc>
                <a:tc>
                  <a:txBody>
                    <a:bodyPr/>
                    <a:lstStyle/>
                    <a:p>
                      <a:pPr marL="0" indent="0">
                        <a:buNone/>
                      </a:pPr>
                      <a:r>
                        <a:rPr lang="en-US" sz="1150" dirty="0">
                          <a:solidFill>
                            <a:srgbClr val="232028"/>
                          </a:solidFill>
                          <a:latin typeface="Calibri" pitchFamily="34" charset="0"/>
                          <a:ea typeface="Calibri" pitchFamily="34" charset="-122"/>
                          <a:cs typeface="Calibri" pitchFamily="34" charset="-120"/>
                        </a:rPr>
                        <a:t>Delivery vehicle used. Eg: Bike, Scooter, Car.</a:t>
                      </a:r>
                      <a:endParaRPr lang="en-US" sz="1150" dirty="0">
                        <a:latin typeface="Calibri" charset="0"/>
                        <a:ea typeface="Calibri" charset="0"/>
                        <a:cs typeface="Calibri"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F2EDE5"/>
                    </a:solidFill>
                  </a:tcPr>
                </a:tc>
                <a:extLst>
                  <a:ext uri="{0D108BD9-81ED-4DB2-BD59-A6C34878D82A}">
                    <a16:rowId xmlns:a16="http://schemas.microsoft.com/office/drawing/2014/main" val="10004"/>
                  </a:ext>
                </a:extLst>
              </a:tr>
              <a:tr h="548640">
                <a:tc>
                  <a:txBody>
                    <a:bodyPr/>
                    <a:lstStyle/>
                    <a:p>
                      <a:pPr marL="0" indent="0">
                        <a:buNone/>
                      </a:pPr>
                      <a:r>
                        <a:rPr lang="en-US" sz="1150" b="1" dirty="0">
                          <a:solidFill>
                            <a:schemeClr val="accent4"/>
                          </a:solidFill>
                          <a:latin typeface="Courier New" pitchFamily="34" charset="0"/>
                          <a:ea typeface="Courier New" pitchFamily="34" charset="-122"/>
                          <a:cs typeface="Courier New" pitchFamily="34" charset="-120"/>
                        </a:rPr>
                        <a:t>Is_Weekend</a:t>
                      </a:r>
                      <a:endParaRPr lang="en-US" sz="1150" dirty="0">
                        <a:solidFill>
                          <a:schemeClr val="accent4"/>
                        </a:solidFill>
                        <a:latin typeface="Courier New" charset="0"/>
                        <a:ea typeface="Courier New" charset="0"/>
                        <a:cs typeface="Courier New"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FFFFFF"/>
                    </a:solidFill>
                  </a:tcPr>
                </a:tc>
                <a:tc>
                  <a:txBody>
                    <a:bodyPr/>
                    <a:lstStyle/>
                    <a:p>
                      <a:pPr marL="0" indent="0">
                        <a:buNone/>
                      </a:pPr>
                      <a:r>
                        <a:rPr lang="en-US" sz="1150" dirty="0">
                          <a:solidFill>
                            <a:srgbClr val="232028"/>
                          </a:solidFill>
                          <a:latin typeface="Calibri" pitchFamily="34" charset="0"/>
                          <a:ea typeface="Calibri" pitchFamily="34" charset="-122"/>
                          <a:cs typeface="Calibri" pitchFamily="34" charset="-120"/>
                        </a:rPr>
                        <a:t>Flags whether the order fell on a weekend.</a:t>
                      </a:r>
                      <a:endParaRPr lang="en-US" sz="1150" dirty="0">
                        <a:latin typeface="Calibri" charset="0"/>
                        <a:ea typeface="Calibri" charset="0"/>
                        <a:cs typeface="Calibri"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buNone/>
                      </a:pPr>
                      <a:r>
                        <a:rPr lang="en-US" sz="1150" b="1" dirty="0">
                          <a:solidFill>
                            <a:schemeClr val="accent4">
                              <a:lumMod val="50000"/>
                            </a:schemeClr>
                          </a:solidFill>
                          <a:latin typeface="Courier New" pitchFamily="34" charset="0"/>
                          <a:ea typeface="Courier New" pitchFamily="34" charset="-122"/>
                          <a:cs typeface="Courier New" pitchFamily="34" charset="-120"/>
                        </a:rPr>
                        <a:t>Delivery_Distance_Category</a:t>
                      </a:r>
                      <a:endParaRPr lang="en-US" sz="1150" dirty="0">
                        <a:solidFill>
                          <a:schemeClr val="accent4">
                            <a:lumMod val="50000"/>
                          </a:schemeClr>
                        </a:solidFill>
                        <a:latin typeface="Courier New" charset="0"/>
                        <a:ea typeface="Courier New" charset="0"/>
                        <a:cs typeface="Courier New"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F2EDE5"/>
                    </a:solidFill>
                  </a:tcPr>
                </a:tc>
                <a:tc>
                  <a:txBody>
                    <a:bodyPr/>
                    <a:lstStyle/>
                    <a:p>
                      <a:pPr marL="0" indent="0">
                        <a:buNone/>
                      </a:pPr>
                      <a:r>
                        <a:rPr lang="en-US" sz="1150" dirty="0">
                          <a:solidFill>
                            <a:srgbClr val="232028"/>
                          </a:solidFill>
                          <a:latin typeface="Calibri" pitchFamily="34" charset="0"/>
                          <a:ea typeface="Calibri" pitchFamily="34" charset="-122"/>
                          <a:cs typeface="Calibri" pitchFamily="34" charset="-120"/>
                        </a:rPr>
                        <a:t>Distance band for the trip . Eg: Short/Medium/Long</a:t>
                      </a:r>
                      <a:endParaRPr lang="en-US" sz="1150" dirty="0">
                        <a:latin typeface="Calibri" charset="0"/>
                        <a:ea typeface="Calibri" charset="0"/>
                        <a:cs typeface="Calibri"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F2EDE5"/>
                    </a:solidFill>
                  </a:tcPr>
                </a:tc>
                <a:extLst>
                  <a:ext uri="{0D108BD9-81ED-4DB2-BD59-A6C34878D82A}">
                    <a16:rowId xmlns:a16="http://schemas.microsoft.com/office/drawing/2014/main" val="10006"/>
                  </a:ext>
                </a:extLst>
              </a:tr>
              <a:tr h="548640">
                <a:tc>
                  <a:txBody>
                    <a:bodyPr/>
                    <a:lstStyle/>
                    <a:p>
                      <a:pPr marL="0" indent="0">
                        <a:buNone/>
                      </a:pPr>
                      <a:r>
                        <a:rPr lang="en-US" sz="1150" b="1" dirty="0">
                          <a:solidFill>
                            <a:schemeClr val="accent4"/>
                          </a:solidFill>
                          <a:latin typeface="Courier New" pitchFamily="34" charset="0"/>
                          <a:ea typeface="Courier New" pitchFamily="34" charset="-122"/>
                          <a:cs typeface="Courier New" pitchFamily="34" charset="-120"/>
                        </a:rPr>
                        <a:t>Pickup_Zone / Dropoff_Zone</a:t>
                      </a:r>
                      <a:endParaRPr lang="en-US" sz="1150" dirty="0">
                        <a:solidFill>
                          <a:schemeClr val="accent4"/>
                        </a:solidFill>
                        <a:latin typeface="Courier New" charset="0"/>
                        <a:ea typeface="Courier New" charset="0"/>
                        <a:cs typeface="Courier New"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FFFFFF"/>
                    </a:solidFill>
                  </a:tcPr>
                </a:tc>
                <a:tc>
                  <a:txBody>
                    <a:bodyPr/>
                    <a:lstStyle/>
                    <a:p>
                      <a:pPr marL="0" indent="0">
                        <a:buNone/>
                      </a:pPr>
                      <a:r>
                        <a:rPr lang="en-US" sz="1150" dirty="0">
                          <a:solidFill>
                            <a:srgbClr val="232028"/>
                          </a:solidFill>
                          <a:latin typeface="Calibri" pitchFamily="34" charset="0"/>
                          <a:ea typeface="Calibri" pitchFamily="34" charset="-122"/>
                          <a:cs typeface="Calibri" pitchFamily="34" charset="-120"/>
                        </a:rPr>
                        <a:t>Restaurant pickup area and customer drop-off area.</a:t>
                      </a:r>
                      <a:endParaRPr lang="en-US" sz="1150" dirty="0">
                        <a:latin typeface="Calibri" charset="0"/>
                        <a:ea typeface="Calibri" charset="0"/>
                        <a:cs typeface="Calibri"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pic>
        <p:nvPicPr>
          <p:cNvPr id="12" name="Image 0" descr="bullseye.png">
            <a:extLst>
              <a:ext uri="{FF2B5EF4-FFF2-40B4-BE49-F238E27FC236}">
                <a16:creationId xmlns:a16="http://schemas.microsoft.com/office/drawing/2014/main" id="{6992EAF0-28BB-42B2-30EE-6A33BBD2DFD5}"/>
              </a:ext>
            </a:extLst>
          </p:cNvPr>
          <p:cNvPicPr>
            <a:picLocks noChangeAspect="1"/>
          </p:cNvPicPr>
          <p:nvPr/>
        </p:nvPicPr>
        <p:blipFill>
          <a:blip r:embed="rId3"/>
          <a:stretch>
            <a:fillRect/>
          </a:stretch>
        </p:blipFill>
        <p:spPr>
          <a:xfrm>
            <a:off x="673913" y="628193"/>
            <a:ext cx="435254" cy="43525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7F2"/>
        </a:solidFill>
        <a:effectLst/>
      </p:bgPr>
    </p:bg>
    <p:spTree>
      <p:nvGrpSpPr>
        <p:cNvPr id="1" name=""/>
        <p:cNvGrpSpPr/>
        <p:nvPr/>
      </p:nvGrpSpPr>
      <p:grpSpPr>
        <a:xfrm>
          <a:off x="0" y="0"/>
          <a:ext cx="0" cy="0"/>
          <a:chOff x="0" y="0"/>
          <a:chExt cx="0" cy="0"/>
        </a:xfrm>
      </p:grpSpPr>
      <p:sp>
        <p:nvSpPr>
          <p:cNvPr id="2" name="Shape 0"/>
          <p:cNvSpPr/>
          <p:nvPr/>
        </p:nvSpPr>
        <p:spPr>
          <a:xfrm>
            <a:off x="502920" y="457200"/>
            <a:ext cx="777240" cy="777240"/>
          </a:xfrm>
          <a:prstGeom prst="ellipse">
            <a:avLst/>
          </a:prstGeom>
          <a:solidFill>
            <a:schemeClr val="accent4"/>
          </a:solidFill>
          <a:ln/>
        </p:spPr>
      </p:sp>
      <p:sp>
        <p:nvSpPr>
          <p:cNvPr id="4" name="Text 1"/>
          <p:cNvSpPr txBox="1"/>
          <p:nvPr/>
        </p:nvSpPr>
        <p:spPr>
          <a:xfrm>
            <a:off x="1371600" y="502920"/>
            <a:ext cx="7315200" cy="320040"/>
          </a:xfrm>
          <a:prstGeom prst="rect">
            <a:avLst/>
          </a:prstGeom>
          <a:noFill/>
          <a:ln/>
        </p:spPr>
        <p:txBody>
          <a:bodyPr wrap="square" lIns="0" tIns="0" rIns="0" bIns="0" rtlCol="0" anchor="ctr"/>
          <a:lstStyle/>
          <a:p>
            <a:pPr marL="0" indent="0">
              <a:buNone/>
            </a:pPr>
            <a:r>
              <a:rPr lang="en-US" sz="1200" b="1" kern="0" spc="200" dirty="0">
                <a:solidFill>
                  <a:schemeClr val="accent4"/>
                </a:solidFill>
                <a:latin typeface="Calibri" pitchFamily="34" charset="0"/>
                <a:ea typeface="Calibri" pitchFamily="34" charset="-122"/>
                <a:cs typeface="Calibri" pitchFamily="34" charset="-120"/>
              </a:rPr>
              <a:t>05 · DATA MODEL</a:t>
            </a:r>
            <a:endParaRPr lang="en-US" sz="1200" dirty="0">
              <a:solidFill>
                <a:schemeClr val="accent4"/>
              </a:solidFill>
            </a:endParaRPr>
          </a:p>
        </p:txBody>
      </p:sp>
      <p:sp>
        <p:nvSpPr>
          <p:cNvPr id="5" name="Text 2"/>
          <p:cNvSpPr txBox="1"/>
          <p:nvPr/>
        </p:nvSpPr>
        <p:spPr>
          <a:xfrm>
            <a:off x="1371600" y="777240"/>
            <a:ext cx="8686800" cy="640080"/>
          </a:xfrm>
          <a:prstGeom prst="rect">
            <a:avLst/>
          </a:prstGeom>
          <a:noFill/>
          <a:ln/>
        </p:spPr>
        <p:txBody>
          <a:bodyPr wrap="square" lIns="0" tIns="0" rIns="0" bIns="0" rtlCol="0" anchor="ctr"/>
          <a:lstStyle/>
          <a:p>
            <a:pPr marL="0" indent="0">
              <a:buNone/>
            </a:pPr>
            <a:r>
              <a:rPr lang="en-US" sz="3200" b="1" dirty="0">
                <a:solidFill>
                  <a:srgbClr val="232028"/>
                </a:solidFill>
                <a:latin typeface="Bookman Old Style" pitchFamily="34" charset="0"/>
                <a:ea typeface="Bookman Old Style" pitchFamily="34" charset="-122"/>
                <a:cs typeface="Bookman Old Style" pitchFamily="34" charset="-120"/>
              </a:rPr>
              <a:t>Connections</a:t>
            </a:r>
            <a:endParaRPr lang="en-US" sz="3200" dirty="0"/>
          </a:p>
        </p:txBody>
      </p:sp>
      <p:sp>
        <p:nvSpPr>
          <p:cNvPr id="6" name="Shape 3"/>
          <p:cNvSpPr/>
          <p:nvPr/>
        </p:nvSpPr>
        <p:spPr>
          <a:xfrm>
            <a:off x="822960" y="1828800"/>
            <a:ext cx="10241280" cy="4206240"/>
          </a:xfrm>
          <a:prstGeom prst="roundRect">
            <a:avLst>
              <a:gd name="adj" fmla="val 2609"/>
            </a:avLst>
          </a:prstGeom>
          <a:solidFill>
            <a:srgbClr val="FFFFFF"/>
          </a:solidFill>
          <a:ln w="12700">
            <a:solidFill>
              <a:srgbClr val="ECE6DE"/>
            </a:solidFill>
            <a:prstDash val="solid"/>
          </a:ln>
        </p:spPr>
      </p:sp>
      <p:sp>
        <p:nvSpPr>
          <p:cNvPr id="7" name="Shape 4"/>
          <p:cNvSpPr/>
          <p:nvPr/>
        </p:nvSpPr>
        <p:spPr>
          <a:xfrm>
            <a:off x="4480560" y="2651760"/>
            <a:ext cx="3200400" cy="1463040"/>
          </a:xfrm>
          <a:prstGeom prst="roundRect">
            <a:avLst>
              <a:gd name="adj" fmla="val 5000"/>
            </a:avLst>
          </a:prstGeom>
          <a:solidFill>
            <a:srgbClr val="14141F"/>
          </a:solidFill>
          <a:ln/>
        </p:spPr>
      </p:sp>
      <p:sp>
        <p:nvSpPr>
          <p:cNvPr id="8" name="Text 5"/>
          <p:cNvSpPr txBox="1"/>
          <p:nvPr/>
        </p:nvSpPr>
        <p:spPr>
          <a:xfrm>
            <a:off x="4147580" y="2971800"/>
            <a:ext cx="3896839" cy="731520"/>
          </a:xfrm>
          <a:prstGeom prst="rect">
            <a:avLst/>
          </a:prstGeom>
          <a:noFill/>
          <a:ln/>
        </p:spPr>
        <p:txBody>
          <a:bodyPr wrap="square" lIns="0" tIns="0" rIns="0" bIns="0" rtlCol="0" anchor="ctr"/>
          <a:lstStyle/>
          <a:p>
            <a:pPr marL="0" indent="0" algn="ctr">
              <a:buNone/>
            </a:pPr>
            <a:r>
              <a:rPr lang="en-US" sz="1300" b="1" dirty="0" err="1">
                <a:solidFill>
                  <a:srgbClr val="F7F4EF"/>
                </a:solidFill>
                <a:ea typeface="Courier New" pitchFamily="34" charset="-122"/>
                <a:cs typeface="Courier New" pitchFamily="34" charset="-120"/>
              </a:rPr>
              <a:t>Food_Delivery_Time_Prediction</a:t>
            </a:r>
            <a:endParaRPr lang="en-US" sz="1300" dirty="0"/>
          </a:p>
        </p:txBody>
      </p:sp>
      <p:sp>
        <p:nvSpPr>
          <p:cNvPr id="9" name="Text 6"/>
          <p:cNvSpPr txBox="1"/>
          <p:nvPr/>
        </p:nvSpPr>
        <p:spPr>
          <a:xfrm>
            <a:off x="4480560" y="3429000"/>
            <a:ext cx="3200400" cy="365760"/>
          </a:xfrm>
          <a:prstGeom prst="rect">
            <a:avLst/>
          </a:prstGeom>
          <a:noFill/>
          <a:ln/>
        </p:spPr>
        <p:txBody>
          <a:bodyPr wrap="square" lIns="0" tIns="0" rIns="0" bIns="0" rtlCol="0" anchor="ctr"/>
          <a:lstStyle/>
          <a:p>
            <a:pPr marL="0" indent="0" algn="ctr">
              <a:buNone/>
            </a:pPr>
            <a:r>
              <a:rPr lang="en-US" sz="1050" i="1" dirty="0">
                <a:solidFill>
                  <a:srgbClr val="FFB100"/>
                </a:solidFill>
                <a:latin typeface="Calibri" pitchFamily="34" charset="0"/>
                <a:ea typeface="Calibri" pitchFamily="34" charset="-122"/>
                <a:cs typeface="Calibri" pitchFamily="34" charset="-120"/>
              </a:rPr>
              <a:t>Single fact table</a:t>
            </a:r>
            <a:endParaRPr lang="en-US" sz="1050" dirty="0"/>
          </a:p>
        </p:txBody>
      </p:sp>
      <p:sp>
        <p:nvSpPr>
          <p:cNvPr id="10" name="Text 7"/>
          <p:cNvSpPr txBox="1"/>
          <p:nvPr/>
        </p:nvSpPr>
        <p:spPr>
          <a:xfrm>
            <a:off x="1188720" y="4572000"/>
            <a:ext cx="9692640" cy="1097280"/>
          </a:xfrm>
          <a:prstGeom prst="rect">
            <a:avLst/>
          </a:prstGeom>
          <a:noFill/>
          <a:ln/>
        </p:spPr>
        <p:txBody>
          <a:bodyPr wrap="square" lIns="0" tIns="0" rIns="0" bIns="0" rtlCol="0" anchor="t"/>
          <a:lstStyle/>
          <a:p>
            <a:pPr marL="0" indent="0">
              <a:lnSpc>
                <a:spcPct val="130000"/>
              </a:lnSpc>
              <a:buNone/>
            </a:pPr>
            <a:r>
              <a:rPr lang="en-US" sz="1350" dirty="0">
                <a:solidFill>
                  <a:srgbClr val="232028"/>
                </a:solidFill>
                <a:latin typeface="Calibri" pitchFamily="34" charset="0"/>
                <a:ea typeface="Calibri" pitchFamily="34" charset="-122"/>
                <a:cs typeface="Calibri" pitchFamily="34" charset="-120"/>
              </a:rPr>
              <a:t>Unlike a multi-table star schema, this dashboard runs on a </a:t>
            </a:r>
            <a:r>
              <a:rPr lang="en-US" sz="1350" b="1" dirty="0">
                <a:solidFill>
                  <a:schemeClr val="accent4"/>
                </a:solidFill>
                <a:latin typeface="Calibri" pitchFamily="34" charset="0"/>
                <a:ea typeface="Calibri" pitchFamily="34" charset="-122"/>
                <a:cs typeface="Calibri" pitchFamily="34" charset="-120"/>
              </a:rPr>
              <a:t>single, already-flattened table</a:t>
            </a:r>
            <a:r>
              <a:rPr lang="en-US" sz="1350" dirty="0">
                <a:solidFill>
                  <a:schemeClr val="accent4"/>
                </a:solidFill>
                <a:latin typeface="Calibri" pitchFamily="34" charset="0"/>
                <a:ea typeface="Calibri" pitchFamily="34" charset="-122"/>
                <a:cs typeface="Calibri" pitchFamily="34" charset="-120"/>
              </a:rPr>
              <a:t> </a:t>
            </a:r>
            <a:r>
              <a:rPr lang="en-US" sz="1350" dirty="0">
                <a:solidFill>
                  <a:srgbClr val="232028"/>
                </a:solidFill>
                <a:latin typeface="Calibri" pitchFamily="34" charset="0"/>
                <a:ea typeface="Calibri" pitchFamily="34" charset="-122"/>
                <a:cs typeface="Calibri" pitchFamily="34" charset="-120"/>
              </a:rPr>
              <a:t>: order details, weather, traffic and location fields all live on one row per order, so </a:t>
            </a:r>
            <a:r>
              <a:rPr lang="en-US" sz="1350" b="1" dirty="0">
                <a:solidFill>
                  <a:srgbClr val="232028"/>
                </a:solidFill>
                <a:latin typeface="Calibri" pitchFamily="34" charset="0"/>
                <a:ea typeface="Calibri" pitchFamily="34" charset="-122"/>
                <a:cs typeface="Calibri" pitchFamily="34" charset="-120"/>
              </a:rPr>
              <a:t>no relationships were needed between tables.</a:t>
            </a:r>
            <a:endParaRPr lang="en-US" sz="1350" dirty="0"/>
          </a:p>
        </p:txBody>
      </p:sp>
      <p:pic>
        <p:nvPicPr>
          <p:cNvPr id="15" name="Image 0" descr="bullseye.png">
            <a:extLst>
              <a:ext uri="{FF2B5EF4-FFF2-40B4-BE49-F238E27FC236}">
                <a16:creationId xmlns:a16="http://schemas.microsoft.com/office/drawing/2014/main" id="{9074C5D2-216D-56AE-F8DB-F035EA710263}"/>
              </a:ext>
            </a:extLst>
          </p:cNvPr>
          <p:cNvPicPr>
            <a:picLocks noChangeAspect="1"/>
          </p:cNvPicPr>
          <p:nvPr/>
        </p:nvPicPr>
        <p:blipFill>
          <a:blip r:embed="rId3"/>
          <a:stretch>
            <a:fillRect/>
          </a:stretch>
        </p:blipFill>
        <p:spPr>
          <a:xfrm>
            <a:off x="673913" y="628193"/>
            <a:ext cx="435254" cy="43525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7F2"/>
        </a:solidFill>
        <a:effectLst/>
      </p:bgPr>
    </p:bg>
    <p:spTree>
      <p:nvGrpSpPr>
        <p:cNvPr id="1" name=""/>
        <p:cNvGrpSpPr/>
        <p:nvPr/>
      </p:nvGrpSpPr>
      <p:grpSpPr>
        <a:xfrm>
          <a:off x="0" y="0"/>
          <a:ext cx="0" cy="0"/>
          <a:chOff x="0" y="0"/>
          <a:chExt cx="0" cy="0"/>
        </a:xfrm>
      </p:grpSpPr>
      <p:sp>
        <p:nvSpPr>
          <p:cNvPr id="2" name="Shape 0"/>
          <p:cNvSpPr/>
          <p:nvPr/>
        </p:nvSpPr>
        <p:spPr>
          <a:xfrm>
            <a:off x="502920" y="457200"/>
            <a:ext cx="777240" cy="777240"/>
          </a:xfrm>
          <a:prstGeom prst="ellipse">
            <a:avLst/>
          </a:prstGeom>
          <a:solidFill>
            <a:schemeClr val="accent4"/>
          </a:solidFill>
          <a:ln/>
        </p:spPr>
      </p:sp>
      <p:sp>
        <p:nvSpPr>
          <p:cNvPr id="4" name="Text 1"/>
          <p:cNvSpPr txBox="1"/>
          <p:nvPr/>
        </p:nvSpPr>
        <p:spPr>
          <a:xfrm>
            <a:off x="1371600" y="502920"/>
            <a:ext cx="7315200" cy="320040"/>
          </a:xfrm>
          <a:prstGeom prst="rect">
            <a:avLst/>
          </a:prstGeom>
          <a:noFill/>
          <a:ln/>
        </p:spPr>
        <p:txBody>
          <a:bodyPr wrap="square" lIns="0" tIns="0" rIns="0" bIns="0" rtlCol="0" anchor="ctr"/>
          <a:lstStyle/>
          <a:p>
            <a:pPr marL="0" indent="0">
              <a:buNone/>
            </a:pPr>
            <a:r>
              <a:rPr lang="en-US" sz="1200" b="1" kern="0" spc="200" dirty="0">
                <a:solidFill>
                  <a:schemeClr val="accent4"/>
                </a:solidFill>
                <a:latin typeface="Calibri" pitchFamily="34" charset="0"/>
                <a:ea typeface="Calibri" pitchFamily="34" charset="-122"/>
                <a:cs typeface="Calibri" pitchFamily="34" charset="-120"/>
              </a:rPr>
              <a:t>06 · DAX MEASURES</a:t>
            </a:r>
            <a:endParaRPr lang="en-US" sz="1200" dirty="0">
              <a:solidFill>
                <a:schemeClr val="accent4"/>
              </a:solidFill>
            </a:endParaRPr>
          </a:p>
        </p:txBody>
      </p:sp>
      <p:sp>
        <p:nvSpPr>
          <p:cNvPr id="5" name="Text 2"/>
          <p:cNvSpPr txBox="1"/>
          <p:nvPr/>
        </p:nvSpPr>
        <p:spPr>
          <a:xfrm>
            <a:off x="1371600" y="777240"/>
            <a:ext cx="8686800" cy="640080"/>
          </a:xfrm>
          <a:prstGeom prst="rect">
            <a:avLst/>
          </a:prstGeom>
          <a:noFill/>
          <a:ln/>
        </p:spPr>
        <p:txBody>
          <a:bodyPr wrap="square" lIns="0" tIns="0" rIns="0" bIns="0" rtlCol="0" anchor="ctr"/>
          <a:lstStyle/>
          <a:p>
            <a:pPr marL="0" indent="0">
              <a:buNone/>
            </a:pPr>
            <a:r>
              <a:rPr lang="en-US" sz="3200" b="1" dirty="0">
                <a:solidFill>
                  <a:srgbClr val="232028"/>
                </a:solidFill>
                <a:latin typeface="Bookman Old Style" pitchFamily="34" charset="0"/>
                <a:ea typeface="Bookman Old Style" pitchFamily="34" charset="-122"/>
                <a:cs typeface="Bookman Old Style" pitchFamily="34" charset="-120"/>
              </a:rPr>
              <a:t>Measures Created</a:t>
            </a:r>
            <a:endParaRPr lang="en-US" sz="3200" dirty="0"/>
          </a:p>
        </p:txBody>
      </p:sp>
      <p:sp>
        <p:nvSpPr>
          <p:cNvPr id="6" name="Shape 3"/>
          <p:cNvSpPr/>
          <p:nvPr/>
        </p:nvSpPr>
        <p:spPr>
          <a:xfrm>
            <a:off x="822960" y="1920240"/>
            <a:ext cx="2423160" cy="1920240"/>
          </a:xfrm>
          <a:prstGeom prst="roundRect">
            <a:avLst>
              <a:gd name="adj" fmla="val 4762"/>
            </a:avLst>
          </a:prstGeom>
          <a:solidFill>
            <a:srgbClr val="14141F"/>
          </a:solidFill>
          <a:ln/>
        </p:spPr>
      </p:sp>
      <p:sp>
        <p:nvSpPr>
          <p:cNvPr id="7" name="Shape 4"/>
          <p:cNvSpPr/>
          <p:nvPr/>
        </p:nvSpPr>
        <p:spPr>
          <a:xfrm>
            <a:off x="822960" y="1920240"/>
            <a:ext cx="2423160" cy="73152"/>
          </a:xfrm>
          <a:prstGeom prst="rect">
            <a:avLst/>
          </a:prstGeom>
          <a:solidFill>
            <a:schemeClr val="accent4">
              <a:lumMod val="50000"/>
            </a:schemeClr>
          </a:solidFill>
          <a:ln/>
        </p:spPr>
      </p:sp>
      <p:sp>
        <p:nvSpPr>
          <p:cNvPr id="8" name="Text 5"/>
          <p:cNvSpPr txBox="1"/>
          <p:nvPr/>
        </p:nvSpPr>
        <p:spPr>
          <a:xfrm>
            <a:off x="1005840" y="2194560"/>
            <a:ext cx="2057400" cy="640080"/>
          </a:xfrm>
          <a:prstGeom prst="rect">
            <a:avLst/>
          </a:prstGeom>
          <a:noFill/>
          <a:ln/>
        </p:spPr>
        <p:txBody>
          <a:bodyPr wrap="square" lIns="0" tIns="0" rIns="0" bIns="0" rtlCol="0" anchor="ctr"/>
          <a:lstStyle/>
          <a:p>
            <a:pPr marL="0" indent="0">
              <a:lnSpc>
                <a:spcPct val="110000"/>
              </a:lnSpc>
              <a:buNone/>
            </a:pPr>
            <a:r>
              <a:rPr lang="en-US" sz="1550" b="1" dirty="0">
                <a:solidFill>
                  <a:srgbClr val="F7F4EF"/>
                </a:solidFill>
                <a:latin typeface="Bookman Old Style" pitchFamily="34" charset="0"/>
                <a:ea typeface="Bookman Old Style" pitchFamily="34" charset="-122"/>
                <a:cs typeface="Bookman Old Style" pitchFamily="34" charset="-120"/>
              </a:rPr>
              <a:t>Total Orders</a:t>
            </a:r>
            <a:endParaRPr lang="en-US" sz="1550" dirty="0"/>
          </a:p>
        </p:txBody>
      </p:sp>
      <p:sp>
        <p:nvSpPr>
          <p:cNvPr id="9" name="Text 6"/>
          <p:cNvSpPr txBox="1"/>
          <p:nvPr/>
        </p:nvSpPr>
        <p:spPr>
          <a:xfrm>
            <a:off x="870857" y="2971800"/>
            <a:ext cx="2291443" cy="640080"/>
          </a:xfrm>
          <a:prstGeom prst="rect">
            <a:avLst/>
          </a:prstGeom>
          <a:noFill/>
          <a:ln/>
        </p:spPr>
        <p:txBody>
          <a:bodyPr wrap="square" lIns="0" tIns="0" rIns="0" bIns="0" rtlCol="0" anchor="ctr"/>
          <a:lstStyle/>
          <a:p>
            <a:pPr marL="0" indent="0">
              <a:lnSpc>
                <a:spcPct val="115000"/>
              </a:lnSpc>
              <a:buNone/>
            </a:pPr>
            <a:r>
              <a:rPr lang="en-US" sz="950" dirty="0">
                <a:solidFill>
                  <a:srgbClr val="C9C4BD"/>
                </a:solidFill>
                <a:latin typeface="Courier New" pitchFamily="34" charset="0"/>
                <a:ea typeface="Courier New" pitchFamily="34" charset="-122"/>
                <a:cs typeface="Courier New" pitchFamily="34" charset="-120"/>
              </a:rPr>
              <a:t>COUNTROWS( </a:t>
            </a:r>
            <a:r>
              <a:rPr lang="en-US" sz="950" dirty="0" err="1">
                <a:solidFill>
                  <a:srgbClr val="C9C4BD"/>
                </a:solidFill>
                <a:latin typeface="Courier New" pitchFamily="34" charset="0"/>
                <a:ea typeface="Courier New" pitchFamily="34" charset="-122"/>
                <a:cs typeface="Courier New" pitchFamily="34" charset="-120"/>
              </a:rPr>
              <a:t>Food_Delivery_Time_Prediction</a:t>
            </a:r>
            <a:r>
              <a:rPr lang="en-US" sz="950" dirty="0">
                <a:solidFill>
                  <a:srgbClr val="C9C4BD"/>
                </a:solidFill>
                <a:latin typeface="Courier New" pitchFamily="34" charset="0"/>
                <a:ea typeface="Courier New" pitchFamily="34" charset="-122"/>
                <a:cs typeface="Courier New" pitchFamily="34" charset="-120"/>
              </a:rPr>
              <a:t>)</a:t>
            </a:r>
            <a:endParaRPr lang="en-US" sz="950" dirty="0"/>
          </a:p>
        </p:txBody>
      </p:sp>
      <p:sp>
        <p:nvSpPr>
          <p:cNvPr id="10" name="Shape 7"/>
          <p:cNvSpPr/>
          <p:nvPr/>
        </p:nvSpPr>
        <p:spPr>
          <a:xfrm>
            <a:off x="3474720" y="1920240"/>
            <a:ext cx="2423160" cy="1920240"/>
          </a:xfrm>
          <a:prstGeom prst="roundRect">
            <a:avLst>
              <a:gd name="adj" fmla="val 4762"/>
            </a:avLst>
          </a:prstGeom>
          <a:solidFill>
            <a:srgbClr val="14141F"/>
          </a:solidFill>
          <a:ln/>
        </p:spPr>
      </p:sp>
      <p:sp>
        <p:nvSpPr>
          <p:cNvPr id="11" name="Shape 8"/>
          <p:cNvSpPr/>
          <p:nvPr/>
        </p:nvSpPr>
        <p:spPr>
          <a:xfrm>
            <a:off x="3474720" y="1920240"/>
            <a:ext cx="2423160" cy="73152"/>
          </a:xfrm>
          <a:prstGeom prst="rect">
            <a:avLst/>
          </a:prstGeom>
          <a:solidFill>
            <a:schemeClr val="accent4">
              <a:lumMod val="75000"/>
            </a:schemeClr>
          </a:solidFill>
          <a:ln/>
        </p:spPr>
      </p:sp>
      <p:sp>
        <p:nvSpPr>
          <p:cNvPr id="12" name="Text 9"/>
          <p:cNvSpPr txBox="1"/>
          <p:nvPr/>
        </p:nvSpPr>
        <p:spPr>
          <a:xfrm>
            <a:off x="3657600" y="2194560"/>
            <a:ext cx="2057400" cy="640080"/>
          </a:xfrm>
          <a:prstGeom prst="rect">
            <a:avLst/>
          </a:prstGeom>
          <a:noFill/>
          <a:ln/>
        </p:spPr>
        <p:txBody>
          <a:bodyPr wrap="square" lIns="0" tIns="0" rIns="0" bIns="0" rtlCol="0" anchor="ctr"/>
          <a:lstStyle/>
          <a:p>
            <a:pPr marL="0" indent="0">
              <a:lnSpc>
                <a:spcPct val="110000"/>
              </a:lnSpc>
              <a:buNone/>
            </a:pPr>
            <a:r>
              <a:rPr lang="en-US" sz="1550" b="1" dirty="0">
                <a:solidFill>
                  <a:srgbClr val="F7F4EF"/>
                </a:solidFill>
                <a:latin typeface="Bookman Old Style" pitchFamily="34" charset="0"/>
                <a:ea typeface="Bookman Old Style" pitchFamily="34" charset="-122"/>
                <a:cs typeface="Bookman Old Style" pitchFamily="34" charset="-120"/>
              </a:rPr>
              <a:t>Avg Delivery Time</a:t>
            </a:r>
            <a:endParaRPr lang="en-US" sz="1550" dirty="0"/>
          </a:p>
        </p:txBody>
      </p:sp>
      <p:sp>
        <p:nvSpPr>
          <p:cNvPr id="13" name="Text 10"/>
          <p:cNvSpPr txBox="1"/>
          <p:nvPr/>
        </p:nvSpPr>
        <p:spPr>
          <a:xfrm>
            <a:off x="3657600" y="2971800"/>
            <a:ext cx="2171700" cy="777240"/>
          </a:xfrm>
          <a:prstGeom prst="rect">
            <a:avLst/>
          </a:prstGeom>
          <a:noFill/>
          <a:ln/>
        </p:spPr>
        <p:txBody>
          <a:bodyPr wrap="square" lIns="0" tIns="0" rIns="0" bIns="0" rtlCol="0" anchor="ctr"/>
          <a:lstStyle/>
          <a:p>
            <a:pPr marL="0" indent="0">
              <a:lnSpc>
                <a:spcPct val="115000"/>
              </a:lnSpc>
              <a:buNone/>
            </a:pPr>
            <a:r>
              <a:rPr lang="en-US" sz="950" dirty="0">
                <a:solidFill>
                  <a:srgbClr val="C9C4BD"/>
                </a:solidFill>
                <a:latin typeface="Courier New" pitchFamily="34" charset="0"/>
                <a:ea typeface="Courier New" pitchFamily="34" charset="-122"/>
                <a:cs typeface="Courier New" pitchFamily="34" charset="-120"/>
              </a:rPr>
              <a:t>AVERAGE( Food_Delivery_Time_Prediction[</a:t>
            </a:r>
            <a:r>
              <a:rPr lang="en-US" sz="950" dirty="0" err="1">
                <a:solidFill>
                  <a:srgbClr val="C9C4BD"/>
                </a:solidFill>
                <a:latin typeface="Courier New" pitchFamily="34" charset="0"/>
                <a:ea typeface="Courier New" pitchFamily="34" charset="-122"/>
                <a:cs typeface="Courier New" pitchFamily="34" charset="-120"/>
              </a:rPr>
              <a:t>Delivery_Time</a:t>
            </a:r>
            <a:r>
              <a:rPr lang="en-US" sz="950" dirty="0">
                <a:solidFill>
                  <a:srgbClr val="C9C4BD"/>
                </a:solidFill>
                <a:latin typeface="Courier New" pitchFamily="34" charset="0"/>
                <a:ea typeface="Courier New" pitchFamily="34" charset="-122"/>
                <a:cs typeface="Courier New" pitchFamily="34" charset="-120"/>
              </a:rPr>
              <a:t>])</a:t>
            </a:r>
            <a:endParaRPr lang="en-US" sz="950" dirty="0"/>
          </a:p>
        </p:txBody>
      </p:sp>
      <p:sp>
        <p:nvSpPr>
          <p:cNvPr id="14" name="Shape 11"/>
          <p:cNvSpPr/>
          <p:nvPr/>
        </p:nvSpPr>
        <p:spPr>
          <a:xfrm>
            <a:off x="6126480" y="1920240"/>
            <a:ext cx="2423160" cy="1920240"/>
          </a:xfrm>
          <a:prstGeom prst="roundRect">
            <a:avLst>
              <a:gd name="adj" fmla="val 4762"/>
            </a:avLst>
          </a:prstGeom>
          <a:solidFill>
            <a:srgbClr val="14141F"/>
          </a:solidFill>
          <a:ln/>
        </p:spPr>
      </p:sp>
      <p:sp>
        <p:nvSpPr>
          <p:cNvPr id="15" name="Shape 12"/>
          <p:cNvSpPr/>
          <p:nvPr/>
        </p:nvSpPr>
        <p:spPr>
          <a:xfrm>
            <a:off x="6126480" y="1920240"/>
            <a:ext cx="2423160" cy="73152"/>
          </a:xfrm>
          <a:prstGeom prst="rect">
            <a:avLst/>
          </a:prstGeom>
          <a:solidFill>
            <a:schemeClr val="accent4">
              <a:lumMod val="60000"/>
              <a:lumOff val="40000"/>
            </a:schemeClr>
          </a:solidFill>
          <a:ln/>
        </p:spPr>
      </p:sp>
      <p:sp>
        <p:nvSpPr>
          <p:cNvPr id="16" name="Text 13"/>
          <p:cNvSpPr txBox="1"/>
          <p:nvPr/>
        </p:nvSpPr>
        <p:spPr>
          <a:xfrm>
            <a:off x="6309360" y="2194560"/>
            <a:ext cx="2057400" cy="640080"/>
          </a:xfrm>
          <a:prstGeom prst="rect">
            <a:avLst/>
          </a:prstGeom>
          <a:noFill/>
          <a:ln/>
        </p:spPr>
        <p:txBody>
          <a:bodyPr wrap="square" lIns="0" tIns="0" rIns="0" bIns="0" rtlCol="0" anchor="ctr"/>
          <a:lstStyle/>
          <a:p>
            <a:pPr marL="0" indent="0">
              <a:lnSpc>
                <a:spcPct val="110000"/>
              </a:lnSpc>
              <a:buNone/>
            </a:pPr>
            <a:r>
              <a:rPr lang="en-US" sz="1550" b="1" dirty="0">
                <a:solidFill>
                  <a:srgbClr val="F7F4EF"/>
                </a:solidFill>
                <a:latin typeface="Bookman Old Style" pitchFamily="34" charset="0"/>
                <a:ea typeface="Bookman Old Style" pitchFamily="34" charset="-122"/>
                <a:cs typeface="Bookman Old Style" pitchFamily="34" charset="-120"/>
              </a:rPr>
              <a:t>Avg Rider Rating</a:t>
            </a:r>
            <a:endParaRPr lang="en-US" sz="1550" dirty="0"/>
          </a:p>
        </p:txBody>
      </p:sp>
      <p:sp>
        <p:nvSpPr>
          <p:cNvPr id="17" name="Text 14"/>
          <p:cNvSpPr txBox="1"/>
          <p:nvPr/>
        </p:nvSpPr>
        <p:spPr>
          <a:xfrm>
            <a:off x="6309360" y="2971800"/>
            <a:ext cx="2121626" cy="777240"/>
          </a:xfrm>
          <a:prstGeom prst="rect">
            <a:avLst/>
          </a:prstGeom>
          <a:noFill/>
          <a:ln/>
        </p:spPr>
        <p:txBody>
          <a:bodyPr wrap="square" lIns="0" tIns="0" rIns="0" bIns="0" rtlCol="0" anchor="ctr"/>
          <a:lstStyle/>
          <a:p>
            <a:pPr marL="0" indent="0">
              <a:lnSpc>
                <a:spcPct val="115000"/>
              </a:lnSpc>
              <a:buNone/>
            </a:pPr>
            <a:r>
              <a:rPr lang="en-US" sz="950" dirty="0">
                <a:solidFill>
                  <a:srgbClr val="C9C4BD"/>
                </a:solidFill>
                <a:latin typeface="Courier New" pitchFamily="34" charset="0"/>
                <a:ea typeface="Courier New" pitchFamily="34" charset="-122"/>
                <a:cs typeface="Courier New" pitchFamily="34" charset="-120"/>
              </a:rPr>
              <a:t>AVERAGE( Food_Delivery_Time_Prediction[</a:t>
            </a:r>
            <a:r>
              <a:rPr lang="en-US" sz="950" dirty="0" err="1">
                <a:solidFill>
                  <a:srgbClr val="C9C4BD"/>
                </a:solidFill>
                <a:latin typeface="Courier New" pitchFamily="34" charset="0"/>
                <a:ea typeface="Courier New" pitchFamily="34" charset="-122"/>
                <a:cs typeface="Courier New" pitchFamily="34" charset="-120"/>
              </a:rPr>
              <a:t>Rider_Rating</a:t>
            </a:r>
            <a:r>
              <a:rPr lang="en-US" sz="950" dirty="0">
                <a:solidFill>
                  <a:srgbClr val="C9C4BD"/>
                </a:solidFill>
                <a:latin typeface="Courier New" pitchFamily="34" charset="0"/>
                <a:ea typeface="Courier New" pitchFamily="34" charset="-122"/>
                <a:cs typeface="Courier New" pitchFamily="34" charset="-120"/>
              </a:rPr>
              <a:t>])</a:t>
            </a:r>
            <a:endParaRPr lang="en-US" sz="950" dirty="0"/>
          </a:p>
        </p:txBody>
      </p:sp>
      <p:sp>
        <p:nvSpPr>
          <p:cNvPr id="18" name="Shape 15"/>
          <p:cNvSpPr/>
          <p:nvPr/>
        </p:nvSpPr>
        <p:spPr>
          <a:xfrm>
            <a:off x="8778240" y="1920240"/>
            <a:ext cx="2423160" cy="1920240"/>
          </a:xfrm>
          <a:prstGeom prst="roundRect">
            <a:avLst>
              <a:gd name="adj" fmla="val 4762"/>
            </a:avLst>
          </a:prstGeom>
          <a:solidFill>
            <a:srgbClr val="14141F"/>
          </a:solidFill>
          <a:ln/>
        </p:spPr>
      </p:sp>
      <p:sp>
        <p:nvSpPr>
          <p:cNvPr id="19" name="Shape 16"/>
          <p:cNvSpPr/>
          <p:nvPr/>
        </p:nvSpPr>
        <p:spPr>
          <a:xfrm>
            <a:off x="8778240" y="1920240"/>
            <a:ext cx="2423160" cy="73152"/>
          </a:xfrm>
          <a:prstGeom prst="rect">
            <a:avLst/>
          </a:prstGeom>
          <a:solidFill>
            <a:schemeClr val="accent4">
              <a:lumMod val="40000"/>
              <a:lumOff val="60000"/>
            </a:schemeClr>
          </a:solidFill>
          <a:ln/>
        </p:spPr>
      </p:sp>
      <p:sp>
        <p:nvSpPr>
          <p:cNvPr id="20" name="Text 17"/>
          <p:cNvSpPr txBox="1"/>
          <p:nvPr/>
        </p:nvSpPr>
        <p:spPr>
          <a:xfrm>
            <a:off x="8961120" y="2194560"/>
            <a:ext cx="2057400" cy="640080"/>
          </a:xfrm>
          <a:prstGeom prst="rect">
            <a:avLst/>
          </a:prstGeom>
          <a:noFill/>
          <a:ln/>
        </p:spPr>
        <p:txBody>
          <a:bodyPr wrap="square" lIns="0" tIns="0" rIns="0" bIns="0" rtlCol="0" anchor="ctr"/>
          <a:lstStyle/>
          <a:p>
            <a:pPr marL="0" indent="0">
              <a:lnSpc>
                <a:spcPct val="110000"/>
              </a:lnSpc>
              <a:buNone/>
            </a:pPr>
            <a:r>
              <a:rPr lang="en-US" sz="1550" b="1" dirty="0">
                <a:solidFill>
                  <a:srgbClr val="F7F4EF"/>
                </a:solidFill>
                <a:latin typeface="Bookman Old Style" pitchFamily="34" charset="0"/>
                <a:ea typeface="Bookman Old Style" pitchFamily="34" charset="-122"/>
                <a:cs typeface="Bookman Old Style" pitchFamily="34" charset="-120"/>
              </a:rPr>
              <a:t>Avg Distance</a:t>
            </a:r>
            <a:endParaRPr lang="en-US" sz="1550" dirty="0"/>
          </a:p>
        </p:txBody>
      </p:sp>
      <p:sp>
        <p:nvSpPr>
          <p:cNvPr id="21" name="Text 18"/>
          <p:cNvSpPr txBox="1"/>
          <p:nvPr/>
        </p:nvSpPr>
        <p:spPr>
          <a:xfrm>
            <a:off x="8961119" y="2971800"/>
            <a:ext cx="2158637" cy="777240"/>
          </a:xfrm>
          <a:prstGeom prst="rect">
            <a:avLst/>
          </a:prstGeom>
          <a:noFill/>
          <a:ln/>
        </p:spPr>
        <p:txBody>
          <a:bodyPr wrap="square" lIns="0" tIns="0" rIns="0" bIns="0" rtlCol="0" anchor="ctr"/>
          <a:lstStyle/>
          <a:p>
            <a:pPr marL="0" indent="0">
              <a:lnSpc>
                <a:spcPct val="115000"/>
              </a:lnSpc>
              <a:buNone/>
            </a:pPr>
            <a:r>
              <a:rPr lang="en-US" sz="950" dirty="0">
                <a:solidFill>
                  <a:srgbClr val="C9C4BD"/>
                </a:solidFill>
                <a:latin typeface="Courier New" pitchFamily="34" charset="0"/>
                <a:ea typeface="Courier New" pitchFamily="34" charset="-122"/>
                <a:cs typeface="Courier New" pitchFamily="34" charset="-120"/>
              </a:rPr>
              <a:t>AVERAGE( </a:t>
            </a:r>
            <a:r>
              <a:rPr lang="en-US" sz="950" dirty="0" err="1">
                <a:solidFill>
                  <a:srgbClr val="C9C4BD"/>
                </a:solidFill>
                <a:latin typeface="Courier New" pitchFamily="34" charset="0"/>
                <a:ea typeface="Courier New" pitchFamily="34" charset="-122"/>
                <a:cs typeface="Courier New" pitchFamily="34" charset="-120"/>
              </a:rPr>
              <a:t>Food_Delivery_Time_Prediction</a:t>
            </a:r>
            <a:r>
              <a:rPr lang="en-US" sz="950" dirty="0">
                <a:solidFill>
                  <a:srgbClr val="C9C4BD"/>
                </a:solidFill>
                <a:latin typeface="Courier New" pitchFamily="34" charset="0"/>
                <a:ea typeface="Courier New" pitchFamily="34" charset="-122"/>
                <a:cs typeface="Courier New" pitchFamily="34" charset="-120"/>
              </a:rPr>
              <a:t> [</a:t>
            </a:r>
            <a:r>
              <a:rPr lang="en-US" sz="950" dirty="0" err="1">
                <a:solidFill>
                  <a:srgbClr val="C9C4BD"/>
                </a:solidFill>
                <a:latin typeface="Courier New" pitchFamily="34" charset="0"/>
                <a:ea typeface="Courier New" pitchFamily="34" charset="-122"/>
                <a:cs typeface="Courier New" pitchFamily="34" charset="-120"/>
              </a:rPr>
              <a:t>Road_distance_km</a:t>
            </a:r>
            <a:r>
              <a:rPr lang="en-US" sz="950" dirty="0">
                <a:solidFill>
                  <a:srgbClr val="C9C4BD"/>
                </a:solidFill>
                <a:latin typeface="Courier New" pitchFamily="34" charset="0"/>
                <a:ea typeface="Courier New" pitchFamily="34" charset="-122"/>
                <a:cs typeface="Courier New" pitchFamily="34" charset="-120"/>
              </a:rPr>
              <a:t>])</a:t>
            </a:r>
            <a:endParaRPr lang="en-US" sz="950" dirty="0"/>
          </a:p>
        </p:txBody>
      </p:sp>
      <p:sp>
        <p:nvSpPr>
          <p:cNvPr id="23" name="Shape 20"/>
          <p:cNvSpPr/>
          <p:nvPr/>
        </p:nvSpPr>
        <p:spPr>
          <a:xfrm>
            <a:off x="822960" y="4846320"/>
            <a:ext cx="10241280" cy="1188720"/>
          </a:xfrm>
          <a:prstGeom prst="roundRect">
            <a:avLst>
              <a:gd name="adj" fmla="val 7692"/>
            </a:avLst>
          </a:prstGeom>
          <a:solidFill>
            <a:srgbClr val="FFFFFF"/>
          </a:solidFill>
          <a:ln w="12700">
            <a:solidFill>
              <a:srgbClr val="ECE6DE"/>
            </a:solidFill>
            <a:prstDash val="solid"/>
          </a:ln>
        </p:spPr>
      </p:sp>
      <p:sp>
        <p:nvSpPr>
          <p:cNvPr id="24" name="Text 21"/>
          <p:cNvSpPr txBox="1"/>
          <p:nvPr/>
        </p:nvSpPr>
        <p:spPr>
          <a:xfrm>
            <a:off x="1097280" y="5074920"/>
            <a:ext cx="9692640" cy="731520"/>
          </a:xfrm>
          <a:prstGeom prst="rect">
            <a:avLst/>
          </a:prstGeom>
          <a:noFill/>
          <a:ln/>
        </p:spPr>
        <p:txBody>
          <a:bodyPr wrap="square" lIns="0" tIns="0" rIns="0" bIns="0" rtlCol="0" anchor="ctr"/>
          <a:lstStyle/>
          <a:p>
            <a:pPr marL="0" indent="0">
              <a:lnSpc>
                <a:spcPct val="130000"/>
              </a:lnSpc>
              <a:buNone/>
            </a:pPr>
            <a:r>
              <a:rPr lang="en-US" sz="1300" dirty="0">
                <a:solidFill>
                  <a:srgbClr val="232028"/>
                </a:solidFill>
                <a:latin typeface="Calibri" pitchFamily="34" charset="0"/>
                <a:ea typeface="Calibri" pitchFamily="34" charset="-122"/>
                <a:cs typeface="Calibri" pitchFamily="34" charset="-120"/>
              </a:rPr>
              <a:t>These four measures power the KPI cards at the top of the dashboard, giving stakeholders an </a:t>
            </a:r>
            <a:r>
              <a:rPr lang="en-US" sz="1300" b="1" dirty="0">
                <a:solidFill>
                  <a:schemeClr val="accent4"/>
                </a:solidFill>
                <a:latin typeface="Calibri" pitchFamily="34" charset="0"/>
                <a:ea typeface="Calibri" pitchFamily="34" charset="-122"/>
                <a:cs typeface="Calibri" pitchFamily="34" charset="-120"/>
              </a:rPr>
              <a:t>at-a-glance summary</a:t>
            </a:r>
            <a:r>
              <a:rPr lang="en-US" sz="1300" dirty="0">
                <a:solidFill>
                  <a:schemeClr val="accent4"/>
                </a:solidFill>
                <a:latin typeface="Calibri" pitchFamily="34" charset="0"/>
                <a:ea typeface="Calibri" pitchFamily="34" charset="-122"/>
                <a:cs typeface="Calibri" pitchFamily="34" charset="-120"/>
              </a:rPr>
              <a:t> </a:t>
            </a:r>
            <a:r>
              <a:rPr lang="en-US" sz="1300" dirty="0">
                <a:solidFill>
                  <a:srgbClr val="232028"/>
                </a:solidFill>
                <a:latin typeface="Calibri" pitchFamily="34" charset="0"/>
                <a:ea typeface="Calibri" pitchFamily="34" charset="-122"/>
                <a:cs typeface="Calibri" pitchFamily="34" charset="-120"/>
              </a:rPr>
              <a:t>before they drill into any chart.</a:t>
            </a:r>
            <a:endParaRPr lang="en-US" sz="1300" dirty="0"/>
          </a:p>
        </p:txBody>
      </p:sp>
      <p:pic>
        <p:nvPicPr>
          <p:cNvPr id="28" name="Image 0" descr="bullseye.png">
            <a:extLst>
              <a:ext uri="{FF2B5EF4-FFF2-40B4-BE49-F238E27FC236}">
                <a16:creationId xmlns:a16="http://schemas.microsoft.com/office/drawing/2014/main" id="{F46588E7-1549-FED0-F7C9-3085F0A1A45B}"/>
              </a:ext>
            </a:extLst>
          </p:cNvPr>
          <p:cNvPicPr>
            <a:picLocks noChangeAspect="1"/>
          </p:cNvPicPr>
          <p:nvPr/>
        </p:nvPicPr>
        <p:blipFill>
          <a:blip r:embed="rId3"/>
          <a:stretch>
            <a:fillRect/>
          </a:stretch>
        </p:blipFill>
        <p:spPr>
          <a:xfrm>
            <a:off x="673913" y="628193"/>
            <a:ext cx="435254" cy="43525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7F2"/>
        </a:solidFill>
        <a:effectLst/>
      </p:bgPr>
    </p:bg>
    <p:spTree>
      <p:nvGrpSpPr>
        <p:cNvPr id="1" name=""/>
        <p:cNvGrpSpPr/>
        <p:nvPr/>
      </p:nvGrpSpPr>
      <p:grpSpPr>
        <a:xfrm>
          <a:off x="0" y="0"/>
          <a:ext cx="0" cy="0"/>
          <a:chOff x="0" y="0"/>
          <a:chExt cx="0" cy="0"/>
        </a:xfrm>
      </p:grpSpPr>
      <p:sp>
        <p:nvSpPr>
          <p:cNvPr id="2" name="Shape 0"/>
          <p:cNvSpPr/>
          <p:nvPr/>
        </p:nvSpPr>
        <p:spPr>
          <a:xfrm>
            <a:off x="502920" y="457200"/>
            <a:ext cx="777240" cy="777240"/>
          </a:xfrm>
          <a:prstGeom prst="ellipse">
            <a:avLst/>
          </a:prstGeom>
          <a:solidFill>
            <a:schemeClr val="accent4"/>
          </a:solidFill>
          <a:ln/>
        </p:spPr>
      </p:sp>
      <p:sp>
        <p:nvSpPr>
          <p:cNvPr id="4" name="Text 1"/>
          <p:cNvSpPr txBox="1"/>
          <p:nvPr/>
        </p:nvSpPr>
        <p:spPr>
          <a:xfrm>
            <a:off x="1371600" y="502920"/>
            <a:ext cx="7315200" cy="320040"/>
          </a:xfrm>
          <a:prstGeom prst="rect">
            <a:avLst/>
          </a:prstGeom>
          <a:noFill/>
          <a:ln/>
        </p:spPr>
        <p:txBody>
          <a:bodyPr wrap="square" lIns="0" tIns="0" rIns="0" bIns="0" rtlCol="0" anchor="ctr"/>
          <a:lstStyle/>
          <a:p>
            <a:pPr marL="0" indent="0">
              <a:buNone/>
            </a:pPr>
            <a:r>
              <a:rPr lang="en-US" sz="1200" b="1" kern="0" spc="200" dirty="0">
                <a:solidFill>
                  <a:schemeClr val="accent4"/>
                </a:solidFill>
                <a:latin typeface="Calibri" pitchFamily="34" charset="0"/>
                <a:ea typeface="Calibri" pitchFamily="34" charset="-122"/>
                <a:cs typeface="Calibri" pitchFamily="34" charset="-120"/>
              </a:rPr>
              <a:t>07 · CRITERIA USED</a:t>
            </a:r>
            <a:endParaRPr lang="en-US" sz="1200" dirty="0">
              <a:solidFill>
                <a:schemeClr val="accent4"/>
              </a:solidFill>
            </a:endParaRPr>
          </a:p>
        </p:txBody>
      </p:sp>
      <p:sp>
        <p:nvSpPr>
          <p:cNvPr id="5" name="Text 2"/>
          <p:cNvSpPr txBox="1"/>
          <p:nvPr/>
        </p:nvSpPr>
        <p:spPr>
          <a:xfrm>
            <a:off x="1371600" y="777240"/>
            <a:ext cx="8686800" cy="640080"/>
          </a:xfrm>
          <a:prstGeom prst="rect">
            <a:avLst/>
          </a:prstGeom>
          <a:noFill/>
          <a:ln/>
        </p:spPr>
        <p:txBody>
          <a:bodyPr wrap="square" lIns="0" tIns="0" rIns="0" bIns="0" rtlCol="0" anchor="ctr"/>
          <a:lstStyle/>
          <a:p>
            <a:pPr marL="0" indent="0">
              <a:buNone/>
            </a:pPr>
            <a:r>
              <a:rPr lang="en-US" sz="3200" b="1" dirty="0">
                <a:solidFill>
                  <a:srgbClr val="232028"/>
                </a:solidFill>
                <a:latin typeface="Bookman Old Style" pitchFamily="34" charset="0"/>
                <a:ea typeface="Bookman Old Style" pitchFamily="34" charset="-122"/>
                <a:cs typeface="Bookman Old Style" pitchFamily="34" charset="-120"/>
              </a:rPr>
              <a:t>Visuals Used</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2355960703"/>
              </p:ext>
            </p:extLst>
          </p:nvPr>
        </p:nvGraphicFramePr>
        <p:xfrm>
          <a:off x="548640" y="1645920"/>
          <a:ext cx="11064240" cy="4572000"/>
        </p:xfrm>
        <a:graphic>
          <a:graphicData uri="http://schemas.openxmlformats.org/drawingml/2006/table">
            <a:tbl>
              <a:tblPr/>
              <a:tblGrid>
                <a:gridCol w="18288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5303520">
                  <a:extLst>
                    <a:ext uri="{9D8B030D-6E8A-4147-A177-3AD203B41FA5}">
                      <a16:colId xmlns:a16="http://schemas.microsoft.com/office/drawing/2014/main" val="20002"/>
                    </a:ext>
                  </a:extLst>
                </a:gridCol>
              </a:tblGrid>
              <a:tr h="57150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VISUAL</a:t>
                      </a:r>
                      <a:endParaRPr lang="en-US" sz="1050" dirty="0">
                        <a:latin typeface="Calibri" charset="0"/>
                        <a:ea typeface="Calibri" charset="0"/>
                        <a:cs typeface="Calibri"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14141F"/>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FIELDS</a:t>
                      </a:r>
                      <a:endParaRPr lang="en-US" sz="1050" dirty="0">
                        <a:latin typeface="Calibri" charset="0"/>
                        <a:ea typeface="Calibri" charset="0"/>
                        <a:cs typeface="Calibri"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14141F"/>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PURPOSE</a:t>
                      </a:r>
                      <a:endParaRPr lang="en-US" sz="1050" dirty="0">
                        <a:latin typeface="Calibri" charset="0"/>
                        <a:ea typeface="Calibri" charset="0"/>
                        <a:cs typeface="Calibri"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14141F"/>
                    </a:solidFill>
                  </a:tcPr>
                </a:tc>
                <a:extLst>
                  <a:ext uri="{0D108BD9-81ED-4DB2-BD59-A6C34878D82A}">
                    <a16:rowId xmlns:a16="http://schemas.microsoft.com/office/drawing/2014/main" val="10000"/>
                  </a:ext>
                </a:extLst>
              </a:tr>
              <a:tr h="571500">
                <a:tc>
                  <a:txBody>
                    <a:bodyPr/>
                    <a:lstStyle/>
                    <a:p>
                      <a:pPr marL="0" indent="0">
                        <a:buNone/>
                      </a:pPr>
                      <a:r>
                        <a:rPr lang="en-US" sz="1050" b="1" dirty="0">
                          <a:solidFill>
                            <a:schemeClr val="accent4"/>
                          </a:solidFill>
                          <a:latin typeface="Calibri" pitchFamily="34" charset="0"/>
                          <a:ea typeface="Calibri" pitchFamily="34" charset="-122"/>
                          <a:cs typeface="Calibri" pitchFamily="34" charset="-120"/>
                        </a:rPr>
                        <a:t>Line Chart</a:t>
                      </a:r>
                      <a:endParaRPr lang="en-US" sz="1050" dirty="0">
                        <a:solidFill>
                          <a:schemeClr val="accent4"/>
                        </a:solidFill>
                        <a:latin typeface="Calibri" charset="0"/>
                        <a:ea typeface="Calibri" charset="0"/>
                        <a:cs typeface="Calibri"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FFFFFF"/>
                    </a:solidFill>
                  </a:tcPr>
                </a:tc>
                <a:tc>
                  <a:txBody>
                    <a:bodyPr/>
                    <a:lstStyle/>
                    <a:p>
                      <a:pPr marL="0" indent="0">
                        <a:buNone/>
                      </a:pPr>
                      <a:r>
                        <a:rPr lang="en-US" sz="1200" dirty="0">
                          <a:solidFill>
                            <a:srgbClr val="232028"/>
                          </a:solidFill>
                          <a:latin typeface="+mn-lt"/>
                          <a:ea typeface="Courier New" pitchFamily="34" charset="-122"/>
                          <a:cs typeface="Courier New" pitchFamily="34" charset="-120"/>
                        </a:rPr>
                        <a:t>Total Orders by </a:t>
                      </a:r>
                      <a:r>
                        <a:rPr lang="en-US" sz="1200" dirty="0" err="1">
                          <a:solidFill>
                            <a:srgbClr val="232028"/>
                          </a:solidFill>
                          <a:latin typeface="+mn-lt"/>
                          <a:ea typeface="Courier New" pitchFamily="34" charset="-122"/>
                          <a:cs typeface="Courier New" pitchFamily="34" charset="-120"/>
                        </a:rPr>
                        <a:t>Order_Hour</a:t>
                      </a:r>
                      <a:r>
                        <a:rPr lang="en-US" sz="1200" dirty="0">
                          <a:solidFill>
                            <a:srgbClr val="232028"/>
                          </a:solidFill>
                          <a:latin typeface="+mn-lt"/>
                          <a:ea typeface="Courier New" pitchFamily="34" charset="-122"/>
                          <a:cs typeface="Courier New" pitchFamily="34" charset="-120"/>
                        </a:rPr>
                        <a:t> </a:t>
                      </a:r>
                      <a:endParaRPr lang="en-US" sz="1200" dirty="0">
                        <a:latin typeface="+mn-lt"/>
                        <a:ea typeface="Courier New" charset="0"/>
                        <a:cs typeface="Courier New"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FFFFFF"/>
                    </a:solidFill>
                  </a:tcPr>
                </a:tc>
                <a:tc>
                  <a:txBody>
                    <a:bodyPr/>
                    <a:lstStyle/>
                    <a:p>
                      <a:pPr marL="0" indent="0">
                        <a:buNone/>
                      </a:pPr>
                      <a:r>
                        <a:rPr lang="en-US" sz="1200" dirty="0">
                          <a:solidFill>
                            <a:srgbClr val="6B6570"/>
                          </a:solidFill>
                          <a:latin typeface="+mn-lt"/>
                          <a:ea typeface="Calibri" pitchFamily="34" charset="-122"/>
                          <a:cs typeface="Calibri" pitchFamily="34" charset="-120"/>
                        </a:rPr>
                        <a:t>Shows order volume trending across the hours of the day.</a:t>
                      </a:r>
                      <a:endParaRPr lang="en-US" sz="1200" dirty="0">
                        <a:latin typeface="+mn-lt"/>
                        <a:ea typeface="Calibri" charset="0"/>
                        <a:cs typeface="Calibri"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1500">
                <a:tc>
                  <a:txBody>
                    <a:bodyPr/>
                    <a:lstStyle/>
                    <a:p>
                      <a:pPr marL="0" indent="0">
                        <a:buNone/>
                      </a:pPr>
                      <a:r>
                        <a:rPr lang="en-US" sz="1050" b="1" dirty="0">
                          <a:solidFill>
                            <a:schemeClr val="accent4">
                              <a:lumMod val="50000"/>
                            </a:schemeClr>
                          </a:solidFill>
                          <a:latin typeface="Calibri" pitchFamily="34" charset="0"/>
                          <a:ea typeface="Calibri" pitchFamily="34" charset="-122"/>
                          <a:cs typeface="Calibri" pitchFamily="34" charset="-120"/>
                        </a:rPr>
                        <a:t>Card</a:t>
                      </a:r>
                      <a:endParaRPr lang="en-US" sz="1050" dirty="0">
                        <a:solidFill>
                          <a:schemeClr val="accent4">
                            <a:lumMod val="50000"/>
                          </a:schemeClr>
                        </a:solidFill>
                        <a:latin typeface="Calibri" charset="0"/>
                        <a:ea typeface="Calibri" charset="0"/>
                        <a:cs typeface="Calibri"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F2EDE5"/>
                    </a:solidFill>
                  </a:tcPr>
                </a:tc>
                <a:tc>
                  <a:txBody>
                    <a:bodyPr/>
                    <a:lstStyle/>
                    <a:p>
                      <a:pPr marL="0" indent="0">
                        <a:buNone/>
                      </a:pPr>
                      <a:r>
                        <a:rPr lang="en-US" sz="1200" dirty="0">
                          <a:solidFill>
                            <a:srgbClr val="232028"/>
                          </a:solidFill>
                          <a:latin typeface="+mn-lt"/>
                          <a:ea typeface="Courier New" pitchFamily="34" charset="-122"/>
                          <a:cs typeface="Courier New" pitchFamily="34" charset="-120"/>
                        </a:rPr>
                        <a:t>Avg Delivery Time, Avg Rider Rating, Total Orders, Avg Distance</a:t>
                      </a:r>
                      <a:endParaRPr lang="en-US" sz="1200" dirty="0">
                        <a:latin typeface="+mn-lt"/>
                        <a:ea typeface="Courier New" charset="0"/>
                        <a:cs typeface="Courier New"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F2EDE5"/>
                    </a:solidFill>
                  </a:tcPr>
                </a:tc>
                <a:tc>
                  <a:txBody>
                    <a:bodyPr/>
                    <a:lstStyle/>
                    <a:p>
                      <a:pPr marL="0" indent="0">
                        <a:buNone/>
                      </a:pPr>
                      <a:r>
                        <a:rPr lang="en-US" sz="1200" dirty="0">
                          <a:solidFill>
                            <a:srgbClr val="6B6570"/>
                          </a:solidFill>
                          <a:latin typeface="+mn-lt"/>
                          <a:ea typeface="Calibri" pitchFamily="34" charset="-122"/>
                          <a:cs typeface="Calibri" pitchFamily="34" charset="-120"/>
                        </a:rPr>
                        <a:t>Headline KPIs for an at-a-glance summary.</a:t>
                      </a:r>
                      <a:endParaRPr lang="en-US" sz="1200" dirty="0">
                        <a:latin typeface="+mn-lt"/>
                        <a:ea typeface="Calibri" charset="0"/>
                        <a:cs typeface="Calibri"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F2EDE5"/>
                    </a:solidFill>
                  </a:tcPr>
                </a:tc>
                <a:extLst>
                  <a:ext uri="{0D108BD9-81ED-4DB2-BD59-A6C34878D82A}">
                    <a16:rowId xmlns:a16="http://schemas.microsoft.com/office/drawing/2014/main" val="10002"/>
                  </a:ext>
                </a:extLst>
              </a:tr>
              <a:tr h="571500">
                <a:tc>
                  <a:txBody>
                    <a:bodyPr/>
                    <a:lstStyle/>
                    <a:p>
                      <a:pPr marL="0" indent="0">
                        <a:buNone/>
                      </a:pPr>
                      <a:r>
                        <a:rPr lang="en-US" sz="1050" b="1" dirty="0">
                          <a:solidFill>
                            <a:schemeClr val="accent4"/>
                          </a:solidFill>
                          <a:latin typeface="Calibri" pitchFamily="34" charset="0"/>
                          <a:ea typeface="Calibri" pitchFamily="34" charset="-122"/>
                          <a:cs typeface="Calibri" pitchFamily="34" charset="-120"/>
                        </a:rPr>
                        <a:t>Clustered Bar Chart</a:t>
                      </a:r>
                      <a:endParaRPr lang="en-US" sz="1050" dirty="0">
                        <a:solidFill>
                          <a:schemeClr val="accent4"/>
                        </a:solidFill>
                        <a:latin typeface="Calibri" charset="0"/>
                        <a:ea typeface="Calibri" charset="0"/>
                        <a:cs typeface="Calibri"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FFFFFF"/>
                    </a:solidFill>
                  </a:tcPr>
                </a:tc>
                <a:tc>
                  <a:txBody>
                    <a:bodyPr/>
                    <a:lstStyle/>
                    <a:p>
                      <a:pPr marL="0" indent="0">
                        <a:buNone/>
                      </a:pPr>
                      <a:r>
                        <a:rPr lang="en-US" sz="1200" dirty="0">
                          <a:solidFill>
                            <a:srgbClr val="232028"/>
                          </a:solidFill>
                          <a:latin typeface="+mn-lt"/>
                          <a:ea typeface="Courier New" pitchFamily="34" charset="-122"/>
                          <a:cs typeface="Courier New" pitchFamily="34" charset="-120"/>
                        </a:rPr>
                        <a:t>Weather vs. Avg Delivery Time</a:t>
                      </a:r>
                      <a:endParaRPr lang="en-US" sz="1200" dirty="0">
                        <a:latin typeface="+mn-lt"/>
                        <a:ea typeface="Courier New" charset="0"/>
                        <a:cs typeface="Courier New"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FFFFFF"/>
                    </a:solidFill>
                  </a:tcPr>
                </a:tc>
                <a:tc>
                  <a:txBody>
                    <a:bodyPr/>
                    <a:lstStyle/>
                    <a:p>
                      <a:pPr marL="0" indent="0">
                        <a:buNone/>
                      </a:pPr>
                      <a:r>
                        <a:rPr lang="en-US" sz="1200" dirty="0">
                          <a:solidFill>
                            <a:srgbClr val="6B6570"/>
                          </a:solidFill>
                          <a:latin typeface="+mn-lt"/>
                          <a:ea typeface="Calibri" pitchFamily="34" charset="-122"/>
                          <a:cs typeface="Calibri" pitchFamily="34" charset="-120"/>
                        </a:rPr>
                        <a:t>Compares how each weather condition affects delivery speed.</a:t>
                      </a:r>
                      <a:endParaRPr lang="en-US" sz="1200" dirty="0">
                        <a:latin typeface="+mn-lt"/>
                        <a:ea typeface="Calibri" charset="0"/>
                        <a:cs typeface="Calibri"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1500">
                <a:tc>
                  <a:txBody>
                    <a:bodyPr/>
                    <a:lstStyle/>
                    <a:p>
                      <a:pPr marL="0" indent="0">
                        <a:buNone/>
                      </a:pPr>
                      <a:r>
                        <a:rPr lang="en-US" sz="1050" b="1" dirty="0">
                          <a:solidFill>
                            <a:schemeClr val="accent4">
                              <a:lumMod val="50000"/>
                            </a:schemeClr>
                          </a:solidFill>
                          <a:latin typeface="Calibri" pitchFamily="34" charset="0"/>
                          <a:ea typeface="Calibri" pitchFamily="34" charset="-122"/>
                          <a:cs typeface="Calibri" pitchFamily="34" charset="-120"/>
                        </a:rPr>
                        <a:t>Funnel</a:t>
                      </a:r>
                      <a:endParaRPr lang="en-US" sz="1050" dirty="0">
                        <a:solidFill>
                          <a:schemeClr val="accent4">
                            <a:lumMod val="50000"/>
                          </a:schemeClr>
                        </a:solidFill>
                        <a:latin typeface="Calibri" charset="0"/>
                        <a:ea typeface="Calibri" charset="0"/>
                        <a:cs typeface="Calibri"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F2EDE5"/>
                    </a:solidFill>
                  </a:tcPr>
                </a:tc>
                <a:tc>
                  <a:txBody>
                    <a:bodyPr/>
                    <a:lstStyle/>
                    <a:p>
                      <a:pPr marL="0" indent="0">
                        <a:buNone/>
                      </a:pPr>
                      <a:r>
                        <a:rPr lang="en-US" sz="1200" dirty="0">
                          <a:solidFill>
                            <a:srgbClr val="232028"/>
                          </a:solidFill>
                          <a:latin typeface="+mn-lt"/>
                          <a:ea typeface="Courier New" pitchFamily="34" charset="-122"/>
                          <a:cs typeface="Courier New" pitchFamily="34" charset="-120"/>
                        </a:rPr>
                        <a:t>Traffic_Level vs. Avg Delivery Time</a:t>
                      </a:r>
                      <a:endParaRPr lang="en-US" sz="1200" dirty="0">
                        <a:latin typeface="+mn-lt"/>
                        <a:ea typeface="Courier New" charset="0"/>
                        <a:cs typeface="Courier New"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F2EDE5"/>
                    </a:solidFill>
                  </a:tcPr>
                </a:tc>
                <a:tc>
                  <a:txBody>
                    <a:bodyPr/>
                    <a:lstStyle/>
                    <a:p>
                      <a:pPr marL="0" indent="0">
                        <a:buNone/>
                      </a:pPr>
                      <a:r>
                        <a:rPr lang="en-US" sz="1200" dirty="0">
                          <a:solidFill>
                            <a:srgbClr val="6B6570"/>
                          </a:solidFill>
                          <a:latin typeface="+mn-lt"/>
                          <a:ea typeface="Calibri" pitchFamily="34" charset="-122"/>
                          <a:cs typeface="Calibri" pitchFamily="34" charset="-120"/>
                        </a:rPr>
                        <a:t>Ranks traffic levels by their impact on delivery time.</a:t>
                      </a:r>
                      <a:endParaRPr lang="en-US" sz="1200" dirty="0">
                        <a:latin typeface="+mn-lt"/>
                        <a:ea typeface="Calibri" charset="0"/>
                        <a:cs typeface="Calibri"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F2EDE5"/>
                    </a:solidFill>
                  </a:tcPr>
                </a:tc>
                <a:extLst>
                  <a:ext uri="{0D108BD9-81ED-4DB2-BD59-A6C34878D82A}">
                    <a16:rowId xmlns:a16="http://schemas.microsoft.com/office/drawing/2014/main" val="10004"/>
                  </a:ext>
                </a:extLst>
              </a:tr>
              <a:tr h="571500">
                <a:tc>
                  <a:txBody>
                    <a:bodyPr/>
                    <a:lstStyle/>
                    <a:p>
                      <a:pPr marL="0" indent="0">
                        <a:buNone/>
                      </a:pPr>
                      <a:r>
                        <a:rPr lang="en-US" sz="1050" b="1" dirty="0">
                          <a:solidFill>
                            <a:schemeClr val="accent4"/>
                          </a:solidFill>
                          <a:latin typeface="Calibri" pitchFamily="34" charset="0"/>
                          <a:ea typeface="Calibri" pitchFamily="34" charset="-122"/>
                          <a:cs typeface="Calibri" pitchFamily="34" charset="-120"/>
                        </a:rPr>
                        <a:t>Clustered Column Chart</a:t>
                      </a:r>
                      <a:endParaRPr lang="en-US" sz="1050" dirty="0">
                        <a:solidFill>
                          <a:schemeClr val="accent4"/>
                        </a:solidFill>
                        <a:latin typeface="Calibri" charset="0"/>
                        <a:ea typeface="Calibri" charset="0"/>
                        <a:cs typeface="Calibri"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FFFFFF"/>
                    </a:solidFill>
                  </a:tcPr>
                </a:tc>
                <a:tc>
                  <a:txBody>
                    <a:bodyPr/>
                    <a:lstStyle/>
                    <a:p>
                      <a:pPr marL="0" indent="0">
                        <a:buNone/>
                      </a:pPr>
                      <a:r>
                        <a:rPr lang="en-US" sz="1200" dirty="0">
                          <a:solidFill>
                            <a:srgbClr val="232028"/>
                          </a:solidFill>
                          <a:latin typeface="+mn-lt"/>
                          <a:ea typeface="Courier New" pitchFamily="34" charset="-122"/>
                          <a:cs typeface="Courier New" pitchFamily="34" charset="-120"/>
                        </a:rPr>
                        <a:t>Delivery_Distance_Category vs. Avg Delivery Time</a:t>
                      </a:r>
                      <a:endParaRPr lang="en-US" sz="1200" dirty="0">
                        <a:latin typeface="+mn-lt"/>
                        <a:ea typeface="Courier New" charset="0"/>
                        <a:cs typeface="Courier New"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FFFFFF"/>
                    </a:solidFill>
                  </a:tcPr>
                </a:tc>
                <a:tc>
                  <a:txBody>
                    <a:bodyPr/>
                    <a:lstStyle/>
                    <a:p>
                      <a:pPr marL="0" indent="0">
                        <a:buNone/>
                      </a:pPr>
                      <a:r>
                        <a:rPr lang="en-US" sz="1200" dirty="0">
                          <a:solidFill>
                            <a:srgbClr val="6B6570"/>
                          </a:solidFill>
                          <a:latin typeface="+mn-lt"/>
                          <a:ea typeface="Calibri" pitchFamily="34" charset="-122"/>
                          <a:cs typeface="Calibri" pitchFamily="34" charset="-120"/>
                        </a:rPr>
                        <a:t>Compares delivery time across distance bands.</a:t>
                      </a:r>
                      <a:endParaRPr lang="en-US" sz="1200" dirty="0">
                        <a:latin typeface="+mn-lt"/>
                        <a:ea typeface="Calibri" charset="0"/>
                        <a:cs typeface="Calibri"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71500">
                <a:tc>
                  <a:txBody>
                    <a:bodyPr/>
                    <a:lstStyle/>
                    <a:p>
                      <a:pPr marL="0" indent="0">
                        <a:buNone/>
                      </a:pPr>
                      <a:r>
                        <a:rPr lang="en-US" sz="1050" b="1" dirty="0">
                          <a:solidFill>
                            <a:schemeClr val="accent4">
                              <a:lumMod val="50000"/>
                            </a:schemeClr>
                          </a:solidFill>
                          <a:latin typeface="Calibri" pitchFamily="34" charset="0"/>
                          <a:ea typeface="Calibri" pitchFamily="34" charset="-122"/>
                          <a:cs typeface="Calibri" pitchFamily="34" charset="-120"/>
                        </a:rPr>
                        <a:t>Table</a:t>
                      </a:r>
                      <a:endParaRPr lang="en-US" sz="1050" dirty="0">
                        <a:solidFill>
                          <a:schemeClr val="accent4">
                            <a:lumMod val="50000"/>
                          </a:schemeClr>
                        </a:solidFill>
                        <a:latin typeface="Calibri" charset="0"/>
                        <a:ea typeface="Calibri" charset="0"/>
                        <a:cs typeface="Calibri"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F2EDE5"/>
                    </a:solidFill>
                  </a:tcPr>
                </a:tc>
                <a:tc>
                  <a:txBody>
                    <a:bodyPr/>
                    <a:lstStyle/>
                    <a:p>
                      <a:pPr marL="0" indent="0">
                        <a:buNone/>
                      </a:pPr>
                      <a:r>
                        <a:rPr lang="en-US" sz="1200" dirty="0">
                          <a:solidFill>
                            <a:srgbClr val="232028"/>
                          </a:solidFill>
                          <a:latin typeface="+mn-lt"/>
                          <a:ea typeface="Courier New" pitchFamily="34" charset="-122"/>
                          <a:cs typeface="Courier New" pitchFamily="34" charset="-120"/>
                        </a:rPr>
                        <a:t>Pickup_Zone → Dropoff_Zone, Avg Delivery Time</a:t>
                      </a:r>
                      <a:endParaRPr lang="en-US" sz="1200" dirty="0">
                        <a:latin typeface="+mn-lt"/>
                        <a:ea typeface="Courier New" charset="0"/>
                        <a:cs typeface="Courier New"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F2EDE5"/>
                    </a:solidFill>
                  </a:tcPr>
                </a:tc>
                <a:tc>
                  <a:txBody>
                    <a:bodyPr/>
                    <a:lstStyle/>
                    <a:p>
                      <a:pPr marL="0" indent="0">
                        <a:buNone/>
                      </a:pPr>
                      <a:r>
                        <a:rPr lang="en-US" sz="1200" dirty="0">
                          <a:solidFill>
                            <a:srgbClr val="6B6570"/>
                          </a:solidFill>
                          <a:latin typeface="+mn-lt"/>
                          <a:ea typeface="Calibri" pitchFamily="34" charset="-122"/>
                          <a:cs typeface="Calibri" pitchFamily="34" charset="-120"/>
                        </a:rPr>
                        <a:t>Surfaces the slowest routes for operational follow-up.</a:t>
                      </a:r>
                      <a:endParaRPr lang="en-US" sz="1200" dirty="0">
                        <a:latin typeface="+mn-lt"/>
                        <a:ea typeface="Calibri" charset="0"/>
                        <a:cs typeface="Calibri"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F2EDE5"/>
                    </a:solidFill>
                  </a:tcPr>
                </a:tc>
                <a:extLst>
                  <a:ext uri="{0D108BD9-81ED-4DB2-BD59-A6C34878D82A}">
                    <a16:rowId xmlns:a16="http://schemas.microsoft.com/office/drawing/2014/main" val="10006"/>
                  </a:ext>
                </a:extLst>
              </a:tr>
              <a:tr h="571500">
                <a:tc>
                  <a:txBody>
                    <a:bodyPr/>
                    <a:lstStyle/>
                    <a:p>
                      <a:pPr marL="0" indent="0">
                        <a:buNone/>
                      </a:pPr>
                      <a:r>
                        <a:rPr lang="en-US" sz="1050" b="1" dirty="0">
                          <a:solidFill>
                            <a:schemeClr val="accent4"/>
                          </a:solidFill>
                          <a:latin typeface="Calibri" pitchFamily="34" charset="0"/>
                          <a:ea typeface="Calibri" pitchFamily="34" charset="-122"/>
                          <a:cs typeface="Calibri" pitchFamily="34" charset="-120"/>
                        </a:rPr>
                        <a:t>Slicers (x4)</a:t>
                      </a:r>
                      <a:endParaRPr lang="en-US" sz="1050" dirty="0">
                        <a:solidFill>
                          <a:schemeClr val="accent4"/>
                        </a:solidFill>
                        <a:latin typeface="Calibri" charset="0"/>
                        <a:ea typeface="Calibri" charset="0"/>
                        <a:cs typeface="Calibri"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FFFFFF"/>
                    </a:solidFill>
                  </a:tcPr>
                </a:tc>
                <a:tc>
                  <a:txBody>
                    <a:bodyPr/>
                    <a:lstStyle/>
                    <a:p>
                      <a:pPr marL="0" indent="0">
                        <a:buNone/>
                      </a:pPr>
                      <a:r>
                        <a:rPr lang="en-US" sz="1200" dirty="0">
                          <a:solidFill>
                            <a:srgbClr val="232028"/>
                          </a:solidFill>
                          <a:latin typeface="+mn-lt"/>
                          <a:ea typeface="Courier New" pitchFamily="34" charset="-122"/>
                          <a:cs typeface="Courier New" pitchFamily="34" charset="-120"/>
                        </a:rPr>
                        <a:t>Weather , </a:t>
                      </a:r>
                      <a:r>
                        <a:rPr lang="en-US" sz="1200" dirty="0" err="1">
                          <a:solidFill>
                            <a:srgbClr val="232028"/>
                          </a:solidFill>
                          <a:latin typeface="+mn-lt"/>
                          <a:ea typeface="Courier New" pitchFamily="34" charset="-122"/>
                          <a:cs typeface="Courier New" pitchFamily="34" charset="-120"/>
                        </a:rPr>
                        <a:t>Vehicle_Type</a:t>
                      </a:r>
                      <a:r>
                        <a:rPr lang="en-US" sz="1200" dirty="0">
                          <a:solidFill>
                            <a:srgbClr val="232028"/>
                          </a:solidFill>
                          <a:latin typeface="+mn-lt"/>
                          <a:ea typeface="Courier New" pitchFamily="34" charset="-122"/>
                          <a:cs typeface="Courier New" pitchFamily="34" charset="-120"/>
                        </a:rPr>
                        <a:t> , </a:t>
                      </a:r>
                      <a:r>
                        <a:rPr lang="en-US" sz="1200" dirty="0" err="1">
                          <a:solidFill>
                            <a:srgbClr val="232028"/>
                          </a:solidFill>
                          <a:latin typeface="+mn-lt"/>
                          <a:ea typeface="Courier New" pitchFamily="34" charset="-122"/>
                          <a:cs typeface="Courier New" pitchFamily="34" charset="-120"/>
                        </a:rPr>
                        <a:t>Traffic_Level</a:t>
                      </a:r>
                      <a:r>
                        <a:rPr lang="en-US" sz="1200" dirty="0">
                          <a:solidFill>
                            <a:srgbClr val="232028"/>
                          </a:solidFill>
                          <a:latin typeface="+mn-lt"/>
                          <a:ea typeface="Courier New" pitchFamily="34" charset="-122"/>
                          <a:cs typeface="Courier New" pitchFamily="34" charset="-120"/>
                        </a:rPr>
                        <a:t> , Is_Weekend</a:t>
                      </a:r>
                      <a:endParaRPr lang="en-US" sz="1200" dirty="0">
                        <a:latin typeface="+mn-lt"/>
                        <a:ea typeface="Courier New" charset="0"/>
                        <a:cs typeface="Courier New"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FFFFFF"/>
                    </a:solidFill>
                  </a:tcPr>
                </a:tc>
                <a:tc>
                  <a:txBody>
                    <a:bodyPr/>
                    <a:lstStyle/>
                    <a:p>
                      <a:pPr marL="0" indent="0">
                        <a:buNone/>
                      </a:pPr>
                      <a:r>
                        <a:rPr lang="en-US" sz="1200" dirty="0">
                          <a:solidFill>
                            <a:srgbClr val="6B6570"/>
                          </a:solidFill>
                          <a:latin typeface="+mn-lt"/>
                          <a:ea typeface="Calibri" pitchFamily="34" charset="-122"/>
                          <a:cs typeface="Calibri" pitchFamily="34" charset="-120"/>
                        </a:rPr>
                        <a:t>Let viewers filter the whole page interactively.</a:t>
                      </a:r>
                      <a:endParaRPr lang="en-US" sz="1200" dirty="0">
                        <a:latin typeface="+mn-lt"/>
                        <a:ea typeface="Calibri" charset="0"/>
                        <a:cs typeface="Calibri" charset="0"/>
                      </a:endParaRPr>
                    </a:p>
                  </a:txBody>
                  <a:tcPr anchor="ctr">
                    <a:lnL w="6350" cap="flat" cmpd="sng" algn="ctr">
                      <a:solidFill>
                        <a:srgbClr val="ECE6DE"/>
                      </a:solidFill>
                      <a:prstDash val="solid"/>
                      <a:round/>
                      <a:headEnd type="none" w="med" len="med"/>
                      <a:tailEnd type="none" w="med" len="med"/>
                    </a:lnL>
                    <a:lnR w="6350" cap="flat" cmpd="sng" algn="ctr">
                      <a:solidFill>
                        <a:srgbClr val="ECE6DE"/>
                      </a:solidFill>
                      <a:prstDash val="solid"/>
                      <a:round/>
                      <a:headEnd type="none" w="med" len="med"/>
                      <a:tailEnd type="none" w="med" len="med"/>
                    </a:lnR>
                    <a:lnT w="6350" cap="flat" cmpd="sng" algn="ctr">
                      <a:solidFill>
                        <a:srgbClr val="ECE6DE"/>
                      </a:solidFill>
                      <a:prstDash val="solid"/>
                      <a:round/>
                      <a:headEnd type="none" w="med" len="med"/>
                      <a:tailEnd type="none" w="med" len="med"/>
                    </a:lnT>
                    <a:lnB w="6350" cap="flat" cmpd="sng" algn="ctr">
                      <a:solidFill>
                        <a:srgbClr val="ECE6D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pic>
        <p:nvPicPr>
          <p:cNvPr id="10" name="Image 0" descr="bullseye.png">
            <a:extLst>
              <a:ext uri="{FF2B5EF4-FFF2-40B4-BE49-F238E27FC236}">
                <a16:creationId xmlns:a16="http://schemas.microsoft.com/office/drawing/2014/main" id="{A0F49CAD-DB39-8059-CCEE-D8862F46C7C4}"/>
              </a:ext>
            </a:extLst>
          </p:cNvPr>
          <p:cNvPicPr>
            <a:picLocks noChangeAspect="1"/>
          </p:cNvPicPr>
          <p:nvPr/>
        </p:nvPicPr>
        <p:blipFill>
          <a:blip r:embed="rId3"/>
          <a:stretch>
            <a:fillRect/>
          </a:stretch>
        </p:blipFill>
        <p:spPr>
          <a:xfrm>
            <a:off x="673913" y="628193"/>
            <a:ext cx="435254" cy="43525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41F"/>
        </a:solidFill>
        <a:effectLst/>
      </p:bgPr>
    </p:bg>
    <p:spTree>
      <p:nvGrpSpPr>
        <p:cNvPr id="1" name=""/>
        <p:cNvGrpSpPr/>
        <p:nvPr/>
      </p:nvGrpSpPr>
      <p:grpSpPr>
        <a:xfrm>
          <a:off x="0" y="0"/>
          <a:ext cx="0" cy="0"/>
          <a:chOff x="0" y="0"/>
          <a:chExt cx="0" cy="0"/>
        </a:xfrm>
      </p:grpSpPr>
      <p:pic>
        <p:nvPicPr>
          <p:cNvPr id="2" name="Image 0" descr="bg_cosmic.jpg"/>
          <p:cNvPicPr>
            <a:picLocks noChangeAspect="1"/>
          </p:cNvPicPr>
          <p:nvPr/>
        </p:nvPicPr>
        <p:blipFill>
          <a:blip r:embed="rId3">
            <a:alphaModFix amt="75000"/>
          </a:blip>
          <a:stretch>
            <a:fillRect/>
          </a:stretch>
        </p:blipFill>
        <p:spPr>
          <a:xfrm>
            <a:off x="0" y="-10886"/>
            <a:ext cx="12188952" cy="6858000"/>
          </a:xfrm>
          <a:prstGeom prst="rect">
            <a:avLst/>
          </a:prstGeom>
        </p:spPr>
      </p:pic>
      <p:sp>
        <p:nvSpPr>
          <p:cNvPr id="3" name="Text 0"/>
          <p:cNvSpPr txBox="1"/>
          <p:nvPr/>
        </p:nvSpPr>
        <p:spPr>
          <a:xfrm>
            <a:off x="1350918" y="502920"/>
            <a:ext cx="5486400" cy="320040"/>
          </a:xfrm>
          <a:prstGeom prst="rect">
            <a:avLst/>
          </a:prstGeom>
          <a:noFill/>
          <a:ln/>
        </p:spPr>
        <p:txBody>
          <a:bodyPr wrap="square" lIns="0" tIns="0" rIns="0" bIns="0" rtlCol="0" anchor="ctr"/>
          <a:lstStyle/>
          <a:p>
            <a:pPr marL="0" indent="0">
              <a:buNone/>
            </a:pPr>
            <a:r>
              <a:rPr lang="en-US" sz="1200" b="1" kern="0" spc="200" dirty="0">
                <a:solidFill>
                  <a:schemeClr val="accent4"/>
                </a:solidFill>
                <a:latin typeface="Calibri" pitchFamily="34" charset="0"/>
                <a:ea typeface="Calibri" pitchFamily="34" charset="-122"/>
                <a:cs typeface="Calibri" pitchFamily="34" charset="-120"/>
              </a:rPr>
              <a:t>08 · THE RESULT</a:t>
            </a:r>
            <a:endParaRPr lang="en-US" sz="1200" dirty="0">
              <a:solidFill>
                <a:schemeClr val="accent4"/>
              </a:solidFill>
            </a:endParaRPr>
          </a:p>
        </p:txBody>
      </p:sp>
      <p:sp>
        <p:nvSpPr>
          <p:cNvPr id="4" name="Text 1"/>
          <p:cNvSpPr txBox="1"/>
          <p:nvPr/>
        </p:nvSpPr>
        <p:spPr>
          <a:xfrm>
            <a:off x="1383575" y="763089"/>
            <a:ext cx="7315200" cy="640080"/>
          </a:xfrm>
          <a:prstGeom prst="rect">
            <a:avLst/>
          </a:prstGeom>
          <a:noFill/>
          <a:ln/>
        </p:spPr>
        <p:txBody>
          <a:bodyPr wrap="square" lIns="0" tIns="0" rIns="0" bIns="0" rtlCol="0" anchor="ctr"/>
          <a:lstStyle/>
          <a:p>
            <a:pPr marL="0" indent="0">
              <a:buNone/>
            </a:pPr>
            <a:r>
              <a:rPr lang="en-US" sz="3200" b="1" dirty="0">
                <a:solidFill>
                  <a:srgbClr val="F7F4EF"/>
                </a:solidFill>
                <a:latin typeface="Bookman Old Style" pitchFamily="34" charset="0"/>
                <a:ea typeface="Bookman Old Style" pitchFamily="34" charset="-122"/>
                <a:cs typeface="Bookman Old Style" pitchFamily="34" charset="-120"/>
              </a:rPr>
              <a:t>Dashboard</a:t>
            </a:r>
            <a:endParaRPr lang="en-US" sz="3200" dirty="0"/>
          </a:p>
        </p:txBody>
      </p:sp>
      <p:sp>
        <p:nvSpPr>
          <p:cNvPr id="5" name="Shape 2"/>
          <p:cNvSpPr/>
          <p:nvPr/>
        </p:nvSpPr>
        <p:spPr>
          <a:xfrm>
            <a:off x="822960" y="1691640"/>
            <a:ext cx="10515600" cy="4434840"/>
          </a:xfrm>
          <a:prstGeom prst="roundRect">
            <a:avLst>
              <a:gd name="adj" fmla="val 2062"/>
            </a:avLst>
          </a:prstGeom>
          <a:solidFill>
            <a:srgbClr val="1E1E2E"/>
          </a:solidFill>
          <a:ln w="15875">
            <a:solidFill>
              <a:srgbClr val="35354A"/>
            </a:solidFill>
            <a:prstDash val="solid"/>
          </a:ln>
        </p:spPr>
      </p:sp>
      <p:sp>
        <p:nvSpPr>
          <p:cNvPr id="6" name="Shape 3"/>
          <p:cNvSpPr/>
          <p:nvPr/>
        </p:nvSpPr>
        <p:spPr>
          <a:xfrm>
            <a:off x="1051560" y="1920240"/>
            <a:ext cx="10058400" cy="3977640"/>
          </a:xfrm>
          <a:prstGeom prst="roundRect">
            <a:avLst>
              <a:gd name="adj" fmla="val 1379"/>
            </a:avLst>
          </a:prstGeom>
          <a:solidFill>
            <a:srgbClr val="0E0E16"/>
          </a:solidFill>
          <a:ln w="12700">
            <a:solidFill>
              <a:srgbClr val="35354A"/>
            </a:solidFill>
            <a:prstDash val="solid"/>
          </a:ln>
        </p:spPr>
      </p:sp>
      <p:pic>
        <p:nvPicPr>
          <p:cNvPr id="7" name="Image 1" descr="dashboard.png"/>
          <p:cNvPicPr>
            <a:picLocks noChangeAspect="1"/>
          </p:cNvPicPr>
          <p:nvPr/>
        </p:nvPicPr>
        <p:blipFill>
          <a:blip r:embed="rId4">
            <a:alphaModFix amt="60000"/>
          </a:blip>
          <a:stretch>
            <a:fillRect/>
          </a:stretch>
        </p:blipFill>
        <p:spPr>
          <a:xfrm>
            <a:off x="5541264" y="3383280"/>
            <a:ext cx="1097280" cy="1097280"/>
          </a:xfrm>
          <a:prstGeom prst="rect">
            <a:avLst/>
          </a:prstGeom>
        </p:spPr>
      </p:pic>
      <p:sp>
        <p:nvSpPr>
          <p:cNvPr id="13" name="Shape 0">
            <a:extLst>
              <a:ext uri="{FF2B5EF4-FFF2-40B4-BE49-F238E27FC236}">
                <a16:creationId xmlns:a16="http://schemas.microsoft.com/office/drawing/2014/main" id="{308CA377-4CE0-E261-0CC0-A5A2A906FE53}"/>
              </a:ext>
            </a:extLst>
          </p:cNvPr>
          <p:cNvSpPr/>
          <p:nvPr/>
        </p:nvSpPr>
        <p:spPr>
          <a:xfrm>
            <a:off x="502920" y="457200"/>
            <a:ext cx="777240" cy="777240"/>
          </a:xfrm>
          <a:prstGeom prst="ellipse">
            <a:avLst/>
          </a:prstGeom>
          <a:solidFill>
            <a:schemeClr val="accent4"/>
          </a:solidFill>
          <a:ln/>
        </p:spPr>
      </p:sp>
      <p:pic>
        <p:nvPicPr>
          <p:cNvPr id="15" name="Image 0" descr="bullseye.png">
            <a:extLst>
              <a:ext uri="{FF2B5EF4-FFF2-40B4-BE49-F238E27FC236}">
                <a16:creationId xmlns:a16="http://schemas.microsoft.com/office/drawing/2014/main" id="{3AD4E817-AB05-E962-D2D7-6271C84D11B6}"/>
              </a:ext>
            </a:extLst>
          </p:cNvPr>
          <p:cNvPicPr>
            <a:picLocks noChangeAspect="1"/>
          </p:cNvPicPr>
          <p:nvPr/>
        </p:nvPicPr>
        <p:blipFill>
          <a:blip r:embed="rId5"/>
          <a:stretch>
            <a:fillRect/>
          </a:stretch>
        </p:blipFill>
        <p:spPr>
          <a:xfrm>
            <a:off x="673913" y="628193"/>
            <a:ext cx="435254" cy="435254"/>
          </a:xfrm>
          <a:prstGeom prst="rect">
            <a:avLst/>
          </a:prstGeom>
        </p:spPr>
      </p:pic>
      <p:pic>
        <p:nvPicPr>
          <p:cNvPr id="19" name="Picture 18">
            <a:extLst>
              <a:ext uri="{FF2B5EF4-FFF2-40B4-BE49-F238E27FC236}">
                <a16:creationId xmlns:a16="http://schemas.microsoft.com/office/drawing/2014/main" id="{4AA5F496-2A1B-EB2C-78AE-AAB671DFDE6D}"/>
              </a:ext>
            </a:extLst>
          </p:cNvPr>
          <p:cNvPicPr>
            <a:picLocks noChangeAspect="1"/>
          </p:cNvPicPr>
          <p:nvPr/>
        </p:nvPicPr>
        <p:blipFill>
          <a:blip r:embed="rId6"/>
          <a:srcRect t="476" r="890"/>
          <a:stretch>
            <a:fillRect/>
          </a:stretch>
        </p:blipFill>
        <p:spPr>
          <a:xfrm>
            <a:off x="30589" y="1234440"/>
            <a:ext cx="12118630" cy="556507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7F2"/>
        </a:solidFill>
        <a:effectLst/>
      </p:bgPr>
    </p:bg>
    <p:spTree>
      <p:nvGrpSpPr>
        <p:cNvPr id="1" name=""/>
        <p:cNvGrpSpPr/>
        <p:nvPr/>
      </p:nvGrpSpPr>
      <p:grpSpPr>
        <a:xfrm>
          <a:off x="0" y="0"/>
          <a:ext cx="0" cy="0"/>
          <a:chOff x="0" y="0"/>
          <a:chExt cx="0" cy="0"/>
        </a:xfrm>
      </p:grpSpPr>
      <p:sp>
        <p:nvSpPr>
          <p:cNvPr id="2" name="Shape 0"/>
          <p:cNvSpPr/>
          <p:nvPr/>
        </p:nvSpPr>
        <p:spPr>
          <a:xfrm>
            <a:off x="502920" y="457200"/>
            <a:ext cx="777240" cy="777240"/>
          </a:xfrm>
          <a:prstGeom prst="ellipse">
            <a:avLst/>
          </a:prstGeom>
          <a:solidFill>
            <a:schemeClr val="accent4"/>
          </a:solidFill>
          <a:ln/>
        </p:spPr>
      </p:sp>
      <p:sp>
        <p:nvSpPr>
          <p:cNvPr id="4" name="Text 1"/>
          <p:cNvSpPr txBox="1"/>
          <p:nvPr/>
        </p:nvSpPr>
        <p:spPr>
          <a:xfrm>
            <a:off x="1371600" y="502920"/>
            <a:ext cx="7315200" cy="320040"/>
          </a:xfrm>
          <a:prstGeom prst="rect">
            <a:avLst/>
          </a:prstGeom>
          <a:noFill/>
          <a:ln/>
        </p:spPr>
        <p:txBody>
          <a:bodyPr wrap="square" lIns="0" tIns="0" rIns="0" bIns="0" rtlCol="0" anchor="ctr"/>
          <a:lstStyle/>
          <a:p>
            <a:pPr marL="0" indent="0">
              <a:buNone/>
            </a:pPr>
            <a:r>
              <a:rPr lang="en-US" sz="1200" b="1" kern="0" spc="200" dirty="0">
                <a:solidFill>
                  <a:schemeClr val="accent4"/>
                </a:solidFill>
                <a:latin typeface="Calibri" pitchFamily="34" charset="0"/>
                <a:ea typeface="Calibri" pitchFamily="34" charset="-122"/>
                <a:cs typeface="Calibri" pitchFamily="34" charset="-120"/>
              </a:rPr>
              <a:t>09 · CONCLUSION</a:t>
            </a:r>
            <a:endParaRPr lang="en-US" sz="1200" dirty="0">
              <a:solidFill>
                <a:schemeClr val="accent4"/>
              </a:solidFill>
            </a:endParaRPr>
          </a:p>
        </p:txBody>
      </p:sp>
      <p:sp>
        <p:nvSpPr>
          <p:cNvPr id="5" name="Text 2"/>
          <p:cNvSpPr txBox="1"/>
          <p:nvPr/>
        </p:nvSpPr>
        <p:spPr>
          <a:xfrm>
            <a:off x="1371600" y="777240"/>
            <a:ext cx="8686800" cy="640080"/>
          </a:xfrm>
          <a:prstGeom prst="rect">
            <a:avLst/>
          </a:prstGeom>
          <a:noFill/>
          <a:ln/>
        </p:spPr>
        <p:txBody>
          <a:bodyPr wrap="square" lIns="0" tIns="0" rIns="0" bIns="0" rtlCol="0" anchor="ctr"/>
          <a:lstStyle/>
          <a:p>
            <a:pPr marL="0" indent="0">
              <a:buNone/>
            </a:pPr>
            <a:r>
              <a:rPr lang="en-US" sz="3200" b="1" dirty="0">
                <a:solidFill>
                  <a:srgbClr val="232028"/>
                </a:solidFill>
                <a:latin typeface="Bookman Old Style" pitchFamily="34" charset="0"/>
                <a:ea typeface="Bookman Old Style" pitchFamily="34" charset="-122"/>
                <a:cs typeface="Bookman Old Style" pitchFamily="34" charset="-120"/>
              </a:rPr>
              <a:t>Key Insights</a:t>
            </a:r>
            <a:endParaRPr lang="en-US" sz="3200" dirty="0"/>
          </a:p>
        </p:txBody>
      </p:sp>
      <p:grpSp>
        <p:nvGrpSpPr>
          <p:cNvPr id="27" name="Group 26">
            <a:extLst>
              <a:ext uri="{FF2B5EF4-FFF2-40B4-BE49-F238E27FC236}">
                <a16:creationId xmlns:a16="http://schemas.microsoft.com/office/drawing/2014/main" id="{8E865D7F-666F-7E77-AE37-93C9CEAB3ED1}"/>
              </a:ext>
            </a:extLst>
          </p:cNvPr>
          <p:cNvGrpSpPr/>
          <p:nvPr/>
        </p:nvGrpSpPr>
        <p:grpSpPr>
          <a:xfrm>
            <a:off x="822960" y="3840480"/>
            <a:ext cx="5029200" cy="1691640"/>
            <a:chOff x="822960" y="1828800"/>
            <a:chExt cx="5029200" cy="1691640"/>
          </a:xfrm>
        </p:grpSpPr>
        <p:sp>
          <p:nvSpPr>
            <p:cNvPr id="6" name="Shape 3"/>
            <p:cNvSpPr/>
            <p:nvPr/>
          </p:nvSpPr>
          <p:spPr>
            <a:xfrm>
              <a:off x="822960" y="1828800"/>
              <a:ext cx="5029200" cy="1691640"/>
            </a:xfrm>
            <a:prstGeom prst="roundRect">
              <a:avLst>
                <a:gd name="adj" fmla="val 5405"/>
              </a:avLst>
            </a:prstGeom>
            <a:solidFill>
              <a:srgbClr val="FFFFFF"/>
            </a:solidFill>
            <a:ln w="12700">
              <a:solidFill>
                <a:srgbClr val="ECE6DE"/>
              </a:solidFill>
              <a:prstDash val="solid"/>
            </a:ln>
          </p:spPr>
        </p:sp>
        <p:sp>
          <p:nvSpPr>
            <p:cNvPr id="7" name="Shape 4"/>
            <p:cNvSpPr/>
            <p:nvPr/>
          </p:nvSpPr>
          <p:spPr>
            <a:xfrm>
              <a:off x="1097280" y="2103120"/>
              <a:ext cx="146304" cy="146304"/>
            </a:xfrm>
            <a:prstGeom prst="ellipse">
              <a:avLst/>
            </a:prstGeom>
            <a:solidFill>
              <a:schemeClr val="accent4"/>
            </a:solidFill>
            <a:ln/>
          </p:spPr>
        </p:sp>
        <p:sp>
          <p:nvSpPr>
            <p:cNvPr id="8" name="Text 5"/>
            <p:cNvSpPr txBox="1"/>
            <p:nvPr/>
          </p:nvSpPr>
          <p:spPr>
            <a:xfrm>
              <a:off x="1371600" y="2011680"/>
              <a:ext cx="4206240" cy="365760"/>
            </a:xfrm>
            <a:prstGeom prst="rect">
              <a:avLst/>
            </a:prstGeom>
            <a:noFill/>
            <a:ln/>
          </p:spPr>
          <p:txBody>
            <a:bodyPr wrap="square" lIns="0" tIns="0" rIns="0" bIns="0" rtlCol="0" anchor="ctr"/>
            <a:lstStyle/>
            <a:p>
              <a:pPr marL="0" indent="0">
                <a:buNone/>
              </a:pPr>
              <a:r>
                <a:rPr lang="en-US" sz="1450" b="1" dirty="0">
                  <a:solidFill>
                    <a:srgbClr val="232028"/>
                  </a:solidFill>
                  <a:latin typeface="Bookman Old Style" pitchFamily="34" charset="0"/>
                  <a:ea typeface="Bookman Old Style" pitchFamily="34" charset="-122"/>
                  <a:cs typeface="Bookman Old Style" pitchFamily="34" charset="-120"/>
                </a:rPr>
                <a:t>Weather slows deliveries down</a:t>
              </a:r>
              <a:endParaRPr lang="en-US" sz="1450" dirty="0"/>
            </a:p>
          </p:txBody>
        </p:sp>
        <p:sp>
          <p:nvSpPr>
            <p:cNvPr id="9" name="Text 6"/>
            <p:cNvSpPr txBox="1"/>
            <p:nvPr/>
          </p:nvSpPr>
          <p:spPr>
            <a:xfrm>
              <a:off x="1097280" y="2450592"/>
              <a:ext cx="4480560" cy="960120"/>
            </a:xfrm>
            <a:prstGeom prst="rect">
              <a:avLst/>
            </a:prstGeom>
            <a:noFill/>
            <a:ln/>
          </p:spPr>
          <p:txBody>
            <a:bodyPr wrap="square" lIns="0" tIns="0" rIns="0" bIns="0" rtlCol="0" anchor="t"/>
            <a:lstStyle/>
            <a:p>
              <a:r>
                <a:rPr lang="en-IN" sz="1200" dirty="0"/>
                <a:t>Storm conditions have the highest average delivery time at 114 minutes, compared to 77 minutes in clear weather. That is 37 minutes (about 48%) longer.</a:t>
              </a:r>
              <a:endParaRPr lang="en-US" sz="1150" dirty="0"/>
            </a:p>
          </p:txBody>
        </p:sp>
      </p:grpSp>
      <p:grpSp>
        <p:nvGrpSpPr>
          <p:cNvPr id="26" name="Group 25">
            <a:extLst>
              <a:ext uri="{FF2B5EF4-FFF2-40B4-BE49-F238E27FC236}">
                <a16:creationId xmlns:a16="http://schemas.microsoft.com/office/drawing/2014/main" id="{90F85C50-33E3-D70C-900A-0A9549D8DCF7}"/>
              </a:ext>
            </a:extLst>
          </p:cNvPr>
          <p:cNvGrpSpPr/>
          <p:nvPr/>
        </p:nvGrpSpPr>
        <p:grpSpPr>
          <a:xfrm>
            <a:off x="822960" y="1783080"/>
            <a:ext cx="5029200" cy="1691640"/>
            <a:chOff x="6309360" y="1828800"/>
            <a:chExt cx="5029200" cy="1691640"/>
          </a:xfrm>
        </p:grpSpPr>
        <p:sp>
          <p:nvSpPr>
            <p:cNvPr id="10" name="Shape 7"/>
            <p:cNvSpPr/>
            <p:nvPr/>
          </p:nvSpPr>
          <p:spPr>
            <a:xfrm>
              <a:off x="6309360" y="1828800"/>
              <a:ext cx="5029200" cy="1691640"/>
            </a:xfrm>
            <a:prstGeom prst="roundRect">
              <a:avLst>
                <a:gd name="adj" fmla="val 5405"/>
              </a:avLst>
            </a:prstGeom>
            <a:solidFill>
              <a:srgbClr val="FFFFFF"/>
            </a:solidFill>
            <a:ln w="12700">
              <a:solidFill>
                <a:srgbClr val="ECE6DE"/>
              </a:solidFill>
              <a:prstDash val="solid"/>
            </a:ln>
          </p:spPr>
          <p:txBody>
            <a:bodyPr/>
            <a:lstStyle/>
            <a:p>
              <a:endParaRPr lang="en-IN" dirty="0"/>
            </a:p>
          </p:txBody>
        </p:sp>
        <p:sp>
          <p:nvSpPr>
            <p:cNvPr id="11" name="Shape 8"/>
            <p:cNvSpPr/>
            <p:nvPr/>
          </p:nvSpPr>
          <p:spPr>
            <a:xfrm>
              <a:off x="6583680" y="2103120"/>
              <a:ext cx="146304" cy="146304"/>
            </a:xfrm>
            <a:prstGeom prst="ellipse">
              <a:avLst/>
            </a:prstGeom>
            <a:solidFill>
              <a:schemeClr val="accent4"/>
            </a:solidFill>
            <a:ln/>
          </p:spPr>
        </p:sp>
        <p:sp>
          <p:nvSpPr>
            <p:cNvPr id="12" name="Text 9"/>
            <p:cNvSpPr txBox="1"/>
            <p:nvPr/>
          </p:nvSpPr>
          <p:spPr>
            <a:xfrm>
              <a:off x="6858000" y="2011680"/>
              <a:ext cx="4206240" cy="365760"/>
            </a:xfrm>
            <a:prstGeom prst="rect">
              <a:avLst/>
            </a:prstGeom>
            <a:noFill/>
            <a:ln/>
          </p:spPr>
          <p:txBody>
            <a:bodyPr wrap="square" lIns="0" tIns="0" rIns="0" bIns="0" rtlCol="0" anchor="ctr"/>
            <a:lstStyle/>
            <a:p>
              <a:pPr marL="0" indent="0">
                <a:buNone/>
              </a:pPr>
              <a:r>
                <a:rPr lang="en-US" sz="1450" b="1" dirty="0">
                  <a:solidFill>
                    <a:srgbClr val="232028"/>
                  </a:solidFill>
                  <a:latin typeface="Bookman Old Style" pitchFamily="34" charset="0"/>
                  <a:ea typeface="Bookman Old Style" pitchFamily="34" charset="-122"/>
                  <a:cs typeface="Bookman Old Style" pitchFamily="34" charset="-120"/>
                </a:rPr>
                <a:t>Traffic is a leading delay factor</a:t>
              </a:r>
              <a:endParaRPr lang="en-US" sz="1450" dirty="0"/>
            </a:p>
          </p:txBody>
        </p:sp>
        <p:sp>
          <p:nvSpPr>
            <p:cNvPr id="13" name="Text 10"/>
            <p:cNvSpPr txBox="1"/>
            <p:nvPr/>
          </p:nvSpPr>
          <p:spPr>
            <a:xfrm>
              <a:off x="6583680" y="2450592"/>
              <a:ext cx="4480560" cy="960120"/>
            </a:xfrm>
            <a:prstGeom prst="rect">
              <a:avLst/>
            </a:prstGeom>
            <a:noFill/>
            <a:ln/>
          </p:spPr>
          <p:txBody>
            <a:bodyPr wrap="square" lIns="0" tIns="0" rIns="0" bIns="0" rtlCol="0" anchor="t"/>
            <a:lstStyle/>
            <a:p>
              <a:r>
                <a:rPr lang="en-IN" sz="1200" dirty="0"/>
                <a:t>Severe traffic pushes average delivery time to 134.40 minutes, versus 76.44 minutes in low traffic. That is nearly 58 minutes (about 76%) longer.</a:t>
              </a:r>
              <a:endParaRPr lang="en-US" sz="1150" dirty="0"/>
            </a:p>
          </p:txBody>
        </p:sp>
      </p:grpSp>
      <p:grpSp>
        <p:nvGrpSpPr>
          <p:cNvPr id="28" name="Group 27">
            <a:extLst>
              <a:ext uri="{FF2B5EF4-FFF2-40B4-BE49-F238E27FC236}">
                <a16:creationId xmlns:a16="http://schemas.microsoft.com/office/drawing/2014/main" id="{02EE7CDD-1405-BF2B-B068-22BEB729CA06}"/>
              </a:ext>
            </a:extLst>
          </p:cNvPr>
          <p:cNvGrpSpPr/>
          <p:nvPr/>
        </p:nvGrpSpPr>
        <p:grpSpPr>
          <a:xfrm>
            <a:off x="6246101" y="1783080"/>
            <a:ext cx="5029200" cy="1691640"/>
            <a:chOff x="822960" y="3840480"/>
            <a:chExt cx="5029200" cy="1691640"/>
          </a:xfrm>
        </p:grpSpPr>
        <p:sp>
          <p:nvSpPr>
            <p:cNvPr id="14" name="Shape 11"/>
            <p:cNvSpPr/>
            <p:nvPr/>
          </p:nvSpPr>
          <p:spPr>
            <a:xfrm>
              <a:off x="822960" y="3840480"/>
              <a:ext cx="5029200" cy="1691640"/>
            </a:xfrm>
            <a:prstGeom prst="roundRect">
              <a:avLst>
                <a:gd name="adj" fmla="val 5405"/>
              </a:avLst>
            </a:prstGeom>
            <a:solidFill>
              <a:srgbClr val="FFFFFF"/>
            </a:solidFill>
            <a:ln w="12700">
              <a:solidFill>
                <a:srgbClr val="ECE6DE"/>
              </a:solidFill>
              <a:prstDash val="solid"/>
            </a:ln>
          </p:spPr>
        </p:sp>
        <p:sp>
          <p:nvSpPr>
            <p:cNvPr id="15" name="Shape 12"/>
            <p:cNvSpPr/>
            <p:nvPr/>
          </p:nvSpPr>
          <p:spPr>
            <a:xfrm>
              <a:off x="1097280" y="4114800"/>
              <a:ext cx="146304" cy="146304"/>
            </a:xfrm>
            <a:prstGeom prst="ellipse">
              <a:avLst/>
            </a:prstGeom>
            <a:solidFill>
              <a:schemeClr val="accent4"/>
            </a:solidFill>
            <a:ln/>
          </p:spPr>
        </p:sp>
        <p:sp>
          <p:nvSpPr>
            <p:cNvPr id="16" name="Text 13"/>
            <p:cNvSpPr txBox="1"/>
            <p:nvPr/>
          </p:nvSpPr>
          <p:spPr>
            <a:xfrm>
              <a:off x="1371600" y="4023360"/>
              <a:ext cx="4206240" cy="365760"/>
            </a:xfrm>
            <a:prstGeom prst="rect">
              <a:avLst/>
            </a:prstGeom>
            <a:noFill/>
            <a:ln/>
          </p:spPr>
          <p:txBody>
            <a:bodyPr wrap="square" lIns="0" tIns="0" rIns="0" bIns="0" rtlCol="0" anchor="ctr"/>
            <a:lstStyle/>
            <a:p>
              <a:pPr marL="0" indent="0">
                <a:buNone/>
              </a:pPr>
              <a:r>
                <a:rPr lang="en-US" sz="1450" b="1" dirty="0">
                  <a:solidFill>
                    <a:srgbClr val="232028"/>
                  </a:solidFill>
                  <a:latin typeface="Bookman Old Style" pitchFamily="34" charset="0"/>
                  <a:ea typeface="Bookman Old Style" pitchFamily="34" charset="-122"/>
                  <a:cs typeface="Bookman Old Style" pitchFamily="34" charset="-120"/>
                </a:rPr>
                <a:t>Distance has big impact</a:t>
              </a:r>
              <a:endParaRPr lang="en-US" sz="1450" dirty="0"/>
            </a:p>
          </p:txBody>
        </p:sp>
        <p:sp>
          <p:nvSpPr>
            <p:cNvPr id="17" name="Text 14"/>
            <p:cNvSpPr txBox="1"/>
            <p:nvPr/>
          </p:nvSpPr>
          <p:spPr>
            <a:xfrm>
              <a:off x="1097280" y="4462272"/>
              <a:ext cx="4480560" cy="960120"/>
            </a:xfrm>
            <a:prstGeom prst="rect">
              <a:avLst/>
            </a:prstGeom>
            <a:noFill/>
            <a:ln/>
          </p:spPr>
          <p:txBody>
            <a:bodyPr wrap="square" lIns="0" tIns="0" rIns="0" bIns="0" rtlCol="0" anchor="t"/>
            <a:lstStyle/>
            <a:p>
              <a:r>
                <a:rPr lang="en-IN" sz="1200" dirty="0"/>
                <a:t>Long-distance orders average 86 minutes, compared to 34 minutes for short ones. That is 52 minutes longer, about 2.5 times the delivery time.</a:t>
              </a:r>
              <a:endParaRPr lang="en-US" sz="1150" dirty="0"/>
            </a:p>
          </p:txBody>
        </p:sp>
      </p:grpSp>
      <p:grpSp>
        <p:nvGrpSpPr>
          <p:cNvPr id="29" name="Group 28">
            <a:extLst>
              <a:ext uri="{FF2B5EF4-FFF2-40B4-BE49-F238E27FC236}">
                <a16:creationId xmlns:a16="http://schemas.microsoft.com/office/drawing/2014/main" id="{331DAF3F-E55F-14FF-AD89-7DEC7B146B9B}"/>
              </a:ext>
            </a:extLst>
          </p:cNvPr>
          <p:cNvGrpSpPr/>
          <p:nvPr/>
        </p:nvGrpSpPr>
        <p:grpSpPr>
          <a:xfrm>
            <a:off x="6309360" y="3840480"/>
            <a:ext cx="5029200" cy="1691640"/>
            <a:chOff x="6309360" y="3840480"/>
            <a:chExt cx="5029200" cy="1691640"/>
          </a:xfrm>
        </p:grpSpPr>
        <p:sp>
          <p:nvSpPr>
            <p:cNvPr id="18" name="Shape 15"/>
            <p:cNvSpPr/>
            <p:nvPr/>
          </p:nvSpPr>
          <p:spPr>
            <a:xfrm>
              <a:off x="6309360" y="3840480"/>
              <a:ext cx="5029200" cy="1691640"/>
            </a:xfrm>
            <a:prstGeom prst="roundRect">
              <a:avLst>
                <a:gd name="adj" fmla="val 5405"/>
              </a:avLst>
            </a:prstGeom>
            <a:solidFill>
              <a:srgbClr val="FFFFFF"/>
            </a:solidFill>
            <a:ln w="12700">
              <a:solidFill>
                <a:srgbClr val="ECE6DE"/>
              </a:solidFill>
              <a:prstDash val="solid"/>
            </a:ln>
          </p:spPr>
        </p:sp>
        <p:sp>
          <p:nvSpPr>
            <p:cNvPr id="19" name="Shape 16"/>
            <p:cNvSpPr/>
            <p:nvPr/>
          </p:nvSpPr>
          <p:spPr>
            <a:xfrm>
              <a:off x="6583680" y="4114800"/>
              <a:ext cx="146304" cy="146304"/>
            </a:xfrm>
            <a:prstGeom prst="ellipse">
              <a:avLst/>
            </a:prstGeom>
            <a:solidFill>
              <a:schemeClr val="accent4"/>
            </a:solidFill>
            <a:ln/>
          </p:spPr>
        </p:sp>
        <p:sp>
          <p:nvSpPr>
            <p:cNvPr id="20" name="Text 17"/>
            <p:cNvSpPr txBox="1"/>
            <p:nvPr/>
          </p:nvSpPr>
          <p:spPr>
            <a:xfrm>
              <a:off x="6858000" y="4023360"/>
              <a:ext cx="4206240" cy="365760"/>
            </a:xfrm>
            <a:prstGeom prst="rect">
              <a:avLst/>
            </a:prstGeom>
            <a:noFill/>
            <a:ln/>
          </p:spPr>
          <p:txBody>
            <a:bodyPr wrap="square" lIns="0" tIns="0" rIns="0" bIns="0" rtlCol="0" anchor="ctr"/>
            <a:lstStyle/>
            <a:p>
              <a:pPr marL="0" indent="0">
                <a:buNone/>
              </a:pPr>
              <a:r>
                <a:rPr lang="en-US" sz="1450" b="1" dirty="0">
                  <a:solidFill>
                    <a:srgbClr val="232028"/>
                  </a:solidFill>
                  <a:latin typeface="Bookman Old Style" pitchFamily="34" charset="0"/>
                  <a:ea typeface="Bookman Old Style" pitchFamily="34" charset="-122"/>
                  <a:cs typeface="Bookman Old Style" pitchFamily="34" charset="-120"/>
                </a:rPr>
                <a:t>A few routes need attention</a:t>
              </a:r>
              <a:endParaRPr lang="en-US" sz="1450" dirty="0"/>
            </a:p>
          </p:txBody>
        </p:sp>
        <p:sp>
          <p:nvSpPr>
            <p:cNvPr id="21" name="Text 18"/>
            <p:cNvSpPr txBox="1"/>
            <p:nvPr/>
          </p:nvSpPr>
          <p:spPr>
            <a:xfrm>
              <a:off x="6583680" y="4462272"/>
              <a:ext cx="4480560" cy="960120"/>
            </a:xfrm>
            <a:prstGeom prst="rect">
              <a:avLst/>
            </a:prstGeom>
            <a:noFill/>
            <a:ln/>
          </p:spPr>
          <p:txBody>
            <a:bodyPr wrap="square" lIns="0" tIns="0" rIns="0" bIns="0" rtlCol="0" anchor="t"/>
            <a:lstStyle/>
            <a:p>
              <a:r>
                <a:rPr lang="en-IN" sz="1200" dirty="0"/>
                <a:t>CBD → Suburban (94.45) and CBD → Commercial (93.87) are the slowest routes.</a:t>
              </a:r>
            </a:p>
            <a:p>
              <a:r>
                <a:rPr lang="en-IN" sz="1200" dirty="0"/>
                <a:t> Industrial → CBD is the fastest at 77.15, a spread of about 17 minutes across routes.</a:t>
              </a:r>
              <a:endParaRPr lang="en-US" sz="1150" dirty="0"/>
            </a:p>
          </p:txBody>
        </p:sp>
      </p:grpSp>
      <p:pic>
        <p:nvPicPr>
          <p:cNvPr id="25" name="Image 0" descr="bullseye.png">
            <a:extLst>
              <a:ext uri="{FF2B5EF4-FFF2-40B4-BE49-F238E27FC236}">
                <a16:creationId xmlns:a16="http://schemas.microsoft.com/office/drawing/2014/main" id="{22CAE5E6-5457-D3DA-37A8-56F3B2CFE920}"/>
              </a:ext>
            </a:extLst>
          </p:cNvPr>
          <p:cNvPicPr>
            <a:picLocks noChangeAspect="1"/>
          </p:cNvPicPr>
          <p:nvPr/>
        </p:nvPicPr>
        <p:blipFill>
          <a:blip r:embed="rId3"/>
          <a:stretch>
            <a:fillRect/>
          </a:stretch>
        </p:blipFill>
        <p:spPr>
          <a:xfrm>
            <a:off x="673913" y="628193"/>
            <a:ext cx="435254" cy="43525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7F2"/>
        </a:solidFill>
        <a:effectLst/>
      </p:bgPr>
    </p:bg>
    <p:spTree>
      <p:nvGrpSpPr>
        <p:cNvPr id="1" name=""/>
        <p:cNvGrpSpPr/>
        <p:nvPr/>
      </p:nvGrpSpPr>
      <p:grpSpPr>
        <a:xfrm>
          <a:off x="0" y="0"/>
          <a:ext cx="0" cy="0"/>
          <a:chOff x="0" y="0"/>
          <a:chExt cx="0" cy="0"/>
        </a:xfrm>
      </p:grpSpPr>
      <p:sp>
        <p:nvSpPr>
          <p:cNvPr id="2" name="Shape 0"/>
          <p:cNvSpPr/>
          <p:nvPr/>
        </p:nvSpPr>
        <p:spPr>
          <a:xfrm>
            <a:off x="502920" y="457200"/>
            <a:ext cx="777240" cy="777240"/>
          </a:xfrm>
          <a:prstGeom prst="ellipse">
            <a:avLst/>
          </a:prstGeom>
          <a:solidFill>
            <a:schemeClr val="accent4"/>
          </a:solidFill>
          <a:ln/>
        </p:spPr>
      </p:sp>
      <p:sp>
        <p:nvSpPr>
          <p:cNvPr id="4" name="Text 1"/>
          <p:cNvSpPr txBox="1"/>
          <p:nvPr/>
        </p:nvSpPr>
        <p:spPr>
          <a:xfrm>
            <a:off x="1371600" y="502920"/>
            <a:ext cx="7315200" cy="320040"/>
          </a:xfrm>
          <a:prstGeom prst="rect">
            <a:avLst/>
          </a:prstGeom>
          <a:noFill/>
          <a:ln/>
        </p:spPr>
        <p:txBody>
          <a:bodyPr wrap="square" lIns="0" tIns="0" rIns="0" bIns="0" rtlCol="0" anchor="ctr"/>
          <a:lstStyle/>
          <a:p>
            <a:pPr marL="0" indent="0">
              <a:buNone/>
            </a:pPr>
            <a:r>
              <a:rPr lang="en-US" sz="1200" b="1" kern="0" spc="200" dirty="0">
                <a:solidFill>
                  <a:schemeClr val="accent4"/>
                </a:solidFill>
                <a:latin typeface="Calibri" pitchFamily="34" charset="0"/>
                <a:ea typeface="Calibri" pitchFamily="34" charset="-122"/>
                <a:cs typeface="Calibri" pitchFamily="34" charset="-120"/>
              </a:rPr>
              <a:t>10 · REFERENCES</a:t>
            </a:r>
            <a:endParaRPr lang="en-US" sz="1200" dirty="0">
              <a:solidFill>
                <a:schemeClr val="accent4"/>
              </a:solidFill>
            </a:endParaRPr>
          </a:p>
        </p:txBody>
      </p:sp>
      <p:sp>
        <p:nvSpPr>
          <p:cNvPr id="5" name="Text 2"/>
          <p:cNvSpPr txBox="1"/>
          <p:nvPr/>
        </p:nvSpPr>
        <p:spPr>
          <a:xfrm>
            <a:off x="1371600" y="777240"/>
            <a:ext cx="8686800" cy="640080"/>
          </a:xfrm>
          <a:prstGeom prst="rect">
            <a:avLst/>
          </a:prstGeom>
          <a:noFill/>
          <a:ln/>
        </p:spPr>
        <p:txBody>
          <a:bodyPr wrap="square" lIns="0" tIns="0" rIns="0" bIns="0" rtlCol="0" anchor="ctr"/>
          <a:lstStyle/>
          <a:p>
            <a:pPr marL="0" indent="0">
              <a:buNone/>
            </a:pPr>
            <a:r>
              <a:rPr lang="en-US" sz="3200" b="1" dirty="0">
                <a:solidFill>
                  <a:srgbClr val="232028"/>
                </a:solidFill>
                <a:latin typeface="Bookman Old Style" pitchFamily="34" charset="0"/>
                <a:ea typeface="Bookman Old Style" pitchFamily="34" charset="-122"/>
                <a:cs typeface="Bookman Old Style" pitchFamily="34" charset="-120"/>
              </a:rPr>
              <a:t>References</a:t>
            </a:r>
            <a:endParaRPr lang="en-US" sz="3200" dirty="0"/>
          </a:p>
        </p:txBody>
      </p:sp>
      <p:sp>
        <p:nvSpPr>
          <p:cNvPr id="6" name="Shape 3"/>
          <p:cNvSpPr/>
          <p:nvPr/>
        </p:nvSpPr>
        <p:spPr>
          <a:xfrm>
            <a:off x="822960" y="1920240"/>
            <a:ext cx="10241280" cy="914400"/>
          </a:xfrm>
          <a:prstGeom prst="roundRect">
            <a:avLst>
              <a:gd name="adj" fmla="val 8000"/>
            </a:avLst>
          </a:prstGeom>
          <a:solidFill>
            <a:srgbClr val="FFFFFF"/>
          </a:solidFill>
          <a:ln w="12700">
            <a:solidFill>
              <a:srgbClr val="ECE6DE"/>
            </a:solidFill>
            <a:prstDash val="solid"/>
          </a:ln>
        </p:spPr>
      </p:sp>
      <p:sp>
        <p:nvSpPr>
          <p:cNvPr id="7" name="Text 4"/>
          <p:cNvSpPr txBox="1"/>
          <p:nvPr/>
        </p:nvSpPr>
        <p:spPr>
          <a:xfrm>
            <a:off x="1897380" y="2057400"/>
            <a:ext cx="2286000" cy="274320"/>
          </a:xfrm>
          <a:prstGeom prst="rect">
            <a:avLst/>
          </a:prstGeom>
          <a:noFill/>
          <a:ln/>
        </p:spPr>
        <p:txBody>
          <a:bodyPr wrap="square" lIns="0" tIns="0" rIns="0" bIns="0" rtlCol="0" anchor="ctr"/>
          <a:lstStyle/>
          <a:p>
            <a:pPr marL="0" indent="0">
              <a:buNone/>
            </a:pPr>
            <a:r>
              <a:rPr lang="en-US" sz="1050" b="1" kern="0" spc="150" dirty="0">
                <a:solidFill>
                  <a:schemeClr val="accent4"/>
                </a:solidFill>
                <a:latin typeface="Calibri" pitchFamily="34" charset="0"/>
                <a:ea typeface="Calibri" pitchFamily="34" charset="-122"/>
                <a:cs typeface="Calibri" pitchFamily="34" charset="-120"/>
              </a:rPr>
              <a:t>DATASET</a:t>
            </a:r>
            <a:endParaRPr lang="en-US" sz="1050" dirty="0">
              <a:solidFill>
                <a:schemeClr val="accent4"/>
              </a:solidFill>
            </a:endParaRPr>
          </a:p>
        </p:txBody>
      </p:sp>
      <p:sp>
        <p:nvSpPr>
          <p:cNvPr id="8" name="Text 5"/>
          <p:cNvSpPr txBox="1"/>
          <p:nvPr/>
        </p:nvSpPr>
        <p:spPr>
          <a:xfrm>
            <a:off x="1930042" y="2331720"/>
            <a:ext cx="9692640" cy="411480"/>
          </a:xfrm>
          <a:prstGeom prst="rect">
            <a:avLst/>
          </a:prstGeom>
          <a:noFill/>
          <a:ln/>
        </p:spPr>
        <p:txBody>
          <a:bodyPr wrap="square" lIns="0" tIns="0" rIns="0" bIns="0" rtlCol="0" anchor="ctr"/>
          <a:lstStyle/>
          <a:p>
            <a:r>
              <a:rPr lang="en-US" sz="1350" dirty="0">
                <a:solidFill>
                  <a:srgbClr val="232028"/>
                </a:solidFill>
                <a:latin typeface="Calibri" pitchFamily="34" charset="0"/>
                <a:ea typeface="Calibri" pitchFamily="34" charset="-122"/>
                <a:cs typeface="Calibri" pitchFamily="34" charset="-120"/>
              </a:rPr>
              <a:t>Kaggle — https://www.kaggle.com/datasets/dharmendrapandit12/food-delivery-time-prediction-dataset</a:t>
            </a:r>
            <a:endParaRPr lang="en-US" sz="1350" dirty="0"/>
          </a:p>
        </p:txBody>
      </p:sp>
      <p:sp>
        <p:nvSpPr>
          <p:cNvPr id="9" name="Shape 6"/>
          <p:cNvSpPr/>
          <p:nvPr/>
        </p:nvSpPr>
        <p:spPr>
          <a:xfrm>
            <a:off x="822960" y="3063240"/>
            <a:ext cx="10241280" cy="914400"/>
          </a:xfrm>
          <a:prstGeom prst="roundRect">
            <a:avLst>
              <a:gd name="adj" fmla="val 8000"/>
            </a:avLst>
          </a:prstGeom>
          <a:solidFill>
            <a:srgbClr val="FFFFFF"/>
          </a:solidFill>
          <a:ln w="12700">
            <a:solidFill>
              <a:srgbClr val="ECE6DE"/>
            </a:solidFill>
            <a:prstDash val="solid"/>
          </a:ln>
        </p:spPr>
      </p:sp>
      <p:sp>
        <p:nvSpPr>
          <p:cNvPr id="10" name="Text 7"/>
          <p:cNvSpPr txBox="1"/>
          <p:nvPr/>
        </p:nvSpPr>
        <p:spPr>
          <a:xfrm>
            <a:off x="1897380" y="3200400"/>
            <a:ext cx="2286000" cy="274320"/>
          </a:xfrm>
          <a:prstGeom prst="rect">
            <a:avLst/>
          </a:prstGeom>
          <a:noFill/>
          <a:ln/>
        </p:spPr>
        <p:txBody>
          <a:bodyPr wrap="square" lIns="0" tIns="0" rIns="0" bIns="0" rtlCol="0" anchor="ctr"/>
          <a:lstStyle/>
          <a:p>
            <a:pPr marL="0" indent="0">
              <a:buNone/>
            </a:pPr>
            <a:r>
              <a:rPr lang="en-US" sz="1050" b="1" kern="0" spc="150" dirty="0">
                <a:solidFill>
                  <a:schemeClr val="accent4"/>
                </a:solidFill>
                <a:latin typeface="Calibri" pitchFamily="34" charset="0"/>
                <a:ea typeface="Calibri" pitchFamily="34" charset="-122"/>
                <a:cs typeface="Calibri" pitchFamily="34" charset="-120"/>
              </a:rPr>
              <a:t>VISUALIZATION</a:t>
            </a:r>
            <a:endParaRPr lang="en-US" sz="1050" dirty="0">
              <a:solidFill>
                <a:schemeClr val="accent4"/>
              </a:solidFill>
            </a:endParaRPr>
          </a:p>
        </p:txBody>
      </p:sp>
      <p:sp>
        <p:nvSpPr>
          <p:cNvPr id="11" name="Text 8"/>
          <p:cNvSpPr txBox="1"/>
          <p:nvPr/>
        </p:nvSpPr>
        <p:spPr>
          <a:xfrm>
            <a:off x="1930042" y="3474720"/>
            <a:ext cx="9692640" cy="411480"/>
          </a:xfrm>
          <a:prstGeom prst="rect">
            <a:avLst/>
          </a:prstGeom>
          <a:noFill/>
          <a:ln/>
        </p:spPr>
        <p:txBody>
          <a:bodyPr wrap="square" lIns="0" tIns="0" rIns="0" bIns="0" rtlCol="0" anchor="ctr"/>
          <a:lstStyle/>
          <a:p>
            <a:pPr marL="0" indent="0">
              <a:buNone/>
            </a:pPr>
            <a:r>
              <a:rPr lang="en-US" sz="1350" dirty="0">
                <a:solidFill>
                  <a:srgbClr val="232028"/>
                </a:solidFill>
                <a:latin typeface="Calibri" pitchFamily="34" charset="0"/>
                <a:ea typeface="Calibri" pitchFamily="34" charset="-122"/>
                <a:cs typeface="Calibri" pitchFamily="34" charset="-120"/>
              </a:rPr>
              <a:t>Microsoft Power BI Desktop</a:t>
            </a:r>
            <a:endParaRPr lang="en-US" sz="1350" dirty="0"/>
          </a:p>
        </p:txBody>
      </p:sp>
      <p:sp>
        <p:nvSpPr>
          <p:cNvPr id="12" name="Text 9"/>
          <p:cNvSpPr txBox="1"/>
          <p:nvPr/>
        </p:nvSpPr>
        <p:spPr>
          <a:xfrm>
            <a:off x="2438400" y="6468292"/>
            <a:ext cx="7315200" cy="274320"/>
          </a:xfrm>
          <a:prstGeom prst="rect">
            <a:avLst/>
          </a:prstGeom>
          <a:noFill/>
          <a:ln/>
        </p:spPr>
        <p:txBody>
          <a:bodyPr wrap="square" lIns="0" tIns="0" rIns="0" bIns="0" rtlCol="0" anchor="ctr"/>
          <a:lstStyle/>
          <a:p>
            <a:pPr marL="0" indent="0" algn="ctr">
              <a:buNone/>
            </a:pPr>
            <a:r>
              <a:rPr lang="en-US" sz="900" kern="0" spc="100" dirty="0">
                <a:solidFill>
                  <a:srgbClr val="B9B3AE"/>
                </a:solidFill>
                <a:latin typeface="Calibri" pitchFamily="34" charset="0"/>
                <a:ea typeface="Calibri" pitchFamily="34" charset="-122"/>
                <a:cs typeface="Calibri" pitchFamily="34" charset="-120"/>
              </a:rPr>
              <a:t>FOOD DELIVERY TIME ANALYSIS  ·  POWER BI PROJECT REPORT</a:t>
            </a:r>
            <a:endParaRPr lang="en-US" sz="900" dirty="0"/>
          </a:p>
        </p:txBody>
      </p:sp>
      <p:pic>
        <p:nvPicPr>
          <p:cNvPr id="15" name="Picture 4" descr="Power BI Logo, symbol, meaning, history, PNG, brand">
            <a:extLst>
              <a:ext uri="{FF2B5EF4-FFF2-40B4-BE49-F238E27FC236}">
                <a16:creationId xmlns:a16="http://schemas.microsoft.com/office/drawing/2014/main" id="{6C1367F1-B6F4-34E9-D482-40B116F641A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485" r="19905"/>
          <a:stretch>
            <a:fillRect/>
          </a:stretch>
        </p:blipFill>
        <p:spPr bwMode="auto">
          <a:xfrm>
            <a:off x="874118" y="3096714"/>
            <a:ext cx="929640" cy="835206"/>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Kaggle Logo transparent PNG - StickPNG">
            <a:extLst>
              <a:ext uri="{FF2B5EF4-FFF2-40B4-BE49-F238E27FC236}">
                <a16:creationId xmlns:a16="http://schemas.microsoft.com/office/drawing/2014/main" id="{EC7F94D4-5BF1-11A3-D8D5-7C9745B8D4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3717" y="1990942"/>
            <a:ext cx="839344" cy="839344"/>
          </a:xfrm>
          <a:prstGeom prst="rect">
            <a:avLst/>
          </a:prstGeom>
          <a:noFill/>
          <a:extLst>
            <a:ext uri="{909E8E84-426E-40DD-AFC4-6F175D3DCCD1}">
              <a14:hiddenFill xmlns:a14="http://schemas.microsoft.com/office/drawing/2010/main">
                <a:solidFill>
                  <a:srgbClr val="FFFFFF"/>
                </a:solidFill>
              </a14:hiddenFill>
            </a:ext>
          </a:extLst>
        </p:spPr>
      </p:pic>
      <p:pic>
        <p:nvPicPr>
          <p:cNvPr id="20" name="Image 0" descr="bullseye.png">
            <a:extLst>
              <a:ext uri="{FF2B5EF4-FFF2-40B4-BE49-F238E27FC236}">
                <a16:creationId xmlns:a16="http://schemas.microsoft.com/office/drawing/2014/main" id="{FE967AAD-7919-928F-6C18-79ABA263DACD}"/>
              </a:ext>
            </a:extLst>
          </p:cNvPr>
          <p:cNvPicPr>
            <a:picLocks noChangeAspect="1"/>
          </p:cNvPicPr>
          <p:nvPr/>
        </p:nvPicPr>
        <p:blipFill>
          <a:blip r:embed="rId5"/>
          <a:stretch>
            <a:fillRect/>
          </a:stretch>
        </p:blipFill>
        <p:spPr>
          <a:xfrm>
            <a:off x="673913" y="628193"/>
            <a:ext cx="435254" cy="43525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41F"/>
        </a:solidFill>
        <a:effectLst/>
      </p:bgPr>
    </p:bg>
    <p:spTree>
      <p:nvGrpSpPr>
        <p:cNvPr id="1" name=""/>
        <p:cNvGrpSpPr/>
        <p:nvPr/>
      </p:nvGrpSpPr>
      <p:grpSpPr>
        <a:xfrm>
          <a:off x="0" y="0"/>
          <a:ext cx="0" cy="0"/>
          <a:chOff x="0" y="0"/>
          <a:chExt cx="0" cy="0"/>
        </a:xfrm>
      </p:grpSpPr>
      <p:pic>
        <p:nvPicPr>
          <p:cNvPr id="2" name="Image 0" descr="bg_cosmic.jpg"/>
          <p:cNvPicPr>
            <a:picLocks noChangeAspect="1"/>
          </p:cNvPicPr>
          <p:nvPr/>
        </p:nvPicPr>
        <p:blipFill>
          <a:blip r:embed="rId3">
            <a:alphaModFix amt="85000"/>
          </a:blip>
          <a:stretch>
            <a:fillRect/>
          </a:stretch>
        </p:blipFill>
        <p:spPr>
          <a:xfrm>
            <a:off x="0" y="0"/>
            <a:ext cx="12188952" cy="6858000"/>
          </a:xfrm>
          <a:prstGeom prst="rect">
            <a:avLst/>
          </a:prstGeom>
        </p:spPr>
      </p:pic>
      <p:sp>
        <p:nvSpPr>
          <p:cNvPr id="3" name="Shape 0"/>
          <p:cNvSpPr/>
          <p:nvPr/>
        </p:nvSpPr>
        <p:spPr>
          <a:xfrm>
            <a:off x="0" y="0"/>
            <a:ext cx="12188952" cy="6858000"/>
          </a:xfrm>
          <a:prstGeom prst="rect">
            <a:avLst/>
          </a:prstGeom>
          <a:solidFill>
            <a:srgbClr val="14141F">
              <a:alpha val="60000"/>
            </a:srgbClr>
          </a:solidFill>
          <a:ln/>
        </p:spPr>
      </p:sp>
      <p:sp>
        <p:nvSpPr>
          <p:cNvPr id="6" name="Text 2"/>
          <p:cNvSpPr txBox="1"/>
          <p:nvPr/>
        </p:nvSpPr>
        <p:spPr>
          <a:xfrm>
            <a:off x="914400" y="2971800"/>
            <a:ext cx="10360152" cy="914400"/>
          </a:xfrm>
          <a:prstGeom prst="rect">
            <a:avLst/>
          </a:prstGeom>
          <a:noFill/>
          <a:ln/>
        </p:spPr>
        <p:txBody>
          <a:bodyPr wrap="square" lIns="0" tIns="0" rIns="0" bIns="0" rtlCol="0" anchor="ctr"/>
          <a:lstStyle/>
          <a:p>
            <a:pPr marL="0" indent="0" algn="ctr">
              <a:buNone/>
            </a:pPr>
            <a:r>
              <a:rPr lang="en-US" sz="4400" b="1" dirty="0">
                <a:solidFill>
                  <a:srgbClr val="F7F4EF"/>
                </a:solidFill>
                <a:latin typeface="Bookman Old Style" pitchFamily="34" charset="0"/>
                <a:ea typeface="Bookman Old Style" pitchFamily="34" charset="-122"/>
                <a:cs typeface="Bookman Old Style" pitchFamily="34" charset="-120"/>
              </a:rPr>
              <a:t>Thank You</a:t>
            </a:r>
            <a:endParaRPr lang="en-US" sz="4400" dirty="0"/>
          </a:p>
        </p:txBody>
      </p:sp>
      <p:sp>
        <p:nvSpPr>
          <p:cNvPr id="7" name="Text 3"/>
          <p:cNvSpPr txBox="1"/>
          <p:nvPr/>
        </p:nvSpPr>
        <p:spPr>
          <a:xfrm>
            <a:off x="914400" y="4023360"/>
            <a:ext cx="10360152" cy="365760"/>
          </a:xfrm>
          <a:prstGeom prst="rect">
            <a:avLst/>
          </a:prstGeom>
          <a:noFill/>
          <a:ln/>
        </p:spPr>
        <p:txBody>
          <a:bodyPr wrap="square" lIns="0" tIns="0" rIns="0" bIns="0" rtlCol="0" anchor="ctr"/>
          <a:lstStyle/>
          <a:p>
            <a:pPr marL="0" indent="0" algn="ctr">
              <a:buNone/>
            </a:pPr>
            <a:r>
              <a:rPr lang="en-US" sz="1300" kern="0" spc="100" dirty="0">
                <a:solidFill>
                  <a:srgbClr val="CFC9C2"/>
                </a:solidFill>
                <a:latin typeface="Calibri" pitchFamily="34" charset="0"/>
                <a:ea typeface="Calibri" pitchFamily="34" charset="-122"/>
                <a:cs typeface="Calibri" pitchFamily="34" charset="-120"/>
              </a:rPr>
              <a:t>Food Delivery Time Analysis Dashboard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2780</TotalTime>
  <Words>1092</Words>
  <Application>Microsoft Office PowerPoint</Application>
  <PresentationFormat>Widescreen</PresentationFormat>
  <Paragraphs>142</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Bookman Old Style</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falha p</cp:lastModifiedBy>
  <cp:revision>9</cp:revision>
  <dcterms:created xsi:type="dcterms:W3CDTF">2026-09-26T07:27:24Z</dcterms:created>
  <dcterms:modified xsi:type="dcterms:W3CDTF">2026-09-28T05:49:35Z</dcterms:modified>
</cp:coreProperties>
</file>